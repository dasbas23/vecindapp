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18" r:id="rId3"/>
    <p:sldId id="319" r:id="rId4"/>
    <p:sldId id="321" r:id="rId5"/>
    <p:sldId id="323" r:id="rId6"/>
    <p:sldId id="325" r:id="rId7"/>
    <p:sldId id="327" r:id="rId8"/>
    <p:sldId id="328" r:id="rId9"/>
    <p:sldId id="330" r:id="rId10"/>
    <p:sldId id="331" r:id="rId11"/>
    <p:sldId id="332" r:id="rId12"/>
    <p:sldId id="333" r:id="rId13"/>
    <p:sldId id="334" r:id="rId14"/>
    <p:sldId id="347" r:id="rId15"/>
    <p:sldId id="337" r:id="rId16"/>
    <p:sldId id="338" r:id="rId17"/>
    <p:sldId id="339" r:id="rId18"/>
    <p:sldId id="340" r:id="rId19"/>
    <p:sldId id="341" r:id="rId20"/>
    <p:sldId id="350" r:id="rId21"/>
    <p:sldId id="345" r:id="rId22"/>
    <p:sldId id="349" r:id="rId23"/>
  </p:sldIdLst>
  <p:sldSz cx="9144000" cy="5143500" type="screen16x9"/>
  <p:notesSz cx="6858000" cy="9144000"/>
  <p:embeddedFontLst>
    <p:embeddedFont>
      <p:font typeface="Avenir" charset="0"/>
      <p:regular r:id="rId25"/>
    </p:embeddedFont>
    <p:embeddedFont>
      <p:font typeface="Josefin Sans" pitchFamily="2" charset="0"/>
      <p:regular r:id="rId26"/>
      <p:bold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Open Sans SemiBold" panose="020B0706030804020204" pitchFamily="34" charset="0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1" roundtripDataSignature="AMtx7mgXYiiB6cvLgKsaKvqMK5pPDh6I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A55"/>
    <a:srgbClr val="FADED3"/>
    <a:srgbClr val="FDF1EC"/>
    <a:srgbClr val="0E1A2B"/>
    <a:srgbClr val="F6F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A2C1C-9B9A-320D-A056-3838CA205906}" v="39" dt="2026-03-05T18:36:55.997"/>
  </p1510:revLst>
</p1510:revInfo>
</file>

<file path=ppt/tableStyles.xml><?xml version="1.0" encoding="utf-8"?>
<a:tblStyleLst xmlns:a="http://schemas.openxmlformats.org/drawingml/2006/main" def="{5C9F6A94-FCF7-4E06-AC46-1207CE497A62}">
  <a:tblStyle styleId="{5C9F6A94-FCF7-4E06-AC46-1207CE497A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8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82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81" Type="http://customschemas.google.com/relationships/presentationmetadata" Target="metadata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Relationship Id="rId85" Type="http://schemas.openxmlformats.org/officeDocument/2006/relationships/tableStyles" Target="tableStyle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us Ion Dodu" userId="S::marius.ion@avanzagrupo.com::92cb2ca4-55aa-49f4-8097-772b09562fe1" providerId="AD" clId="Web-{11EA2C1C-9B9A-320D-A056-3838CA205906}"/>
    <pc:docChg chg="modSld">
      <pc:chgData name="Marius Ion Dodu" userId="S::marius.ion@avanzagrupo.com::92cb2ca4-55aa-49f4-8097-772b09562fe1" providerId="AD" clId="Web-{11EA2C1C-9B9A-320D-A056-3838CA205906}" dt="2026-03-05T18:36:55.966" v="35" actId="20577"/>
      <pc:docMkLst>
        <pc:docMk/>
      </pc:docMkLst>
      <pc:sldChg chg="modSp">
        <pc:chgData name="Marius Ion Dodu" userId="S::marius.ion@avanzagrupo.com::92cb2ca4-55aa-49f4-8097-772b09562fe1" providerId="AD" clId="Web-{11EA2C1C-9B9A-320D-A056-3838CA205906}" dt="2026-03-05T18:36:14.151" v="33" actId="20577"/>
        <pc:sldMkLst>
          <pc:docMk/>
          <pc:sldMk cId="0" sldId="256"/>
        </pc:sldMkLst>
        <pc:spChg chg="mod">
          <ac:chgData name="Marius Ion Dodu" userId="S::marius.ion@avanzagrupo.com::92cb2ca4-55aa-49f4-8097-772b09562fe1" providerId="AD" clId="Web-{11EA2C1C-9B9A-320D-A056-3838CA205906}" dt="2026-03-05T18:36:14.151" v="33" actId="20577"/>
          <ac:spMkLst>
            <pc:docMk/>
            <pc:sldMk cId="0" sldId="256"/>
            <ac:spMk id="167" creationId="{00000000-0000-0000-0000-000000000000}"/>
          </ac:spMkLst>
        </pc:spChg>
      </pc:sldChg>
      <pc:sldChg chg="modSp">
        <pc:chgData name="Marius Ion Dodu" userId="S::marius.ion@avanzagrupo.com::92cb2ca4-55aa-49f4-8097-772b09562fe1" providerId="AD" clId="Web-{11EA2C1C-9B9A-320D-A056-3838CA205906}" dt="2026-03-05T18:36:55.966" v="35" actId="20577"/>
        <pc:sldMkLst>
          <pc:docMk/>
          <pc:sldMk cId="826017717" sldId="304"/>
        </pc:sldMkLst>
        <pc:spChg chg="mod">
          <ac:chgData name="Marius Ion Dodu" userId="S::marius.ion@avanzagrupo.com::92cb2ca4-55aa-49f4-8097-772b09562fe1" providerId="AD" clId="Web-{11EA2C1C-9B9A-320D-A056-3838CA205906}" dt="2026-03-05T18:36:55.966" v="35" actId="20577"/>
          <ac:spMkLst>
            <pc:docMk/>
            <pc:sldMk cId="826017717" sldId="304"/>
            <ac:spMk id="3" creationId="{9487B326-82C5-2B72-1C40-2F1C309122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15602234-5D20-22BD-D82F-4AD18A61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93F951D9-CC8D-DF43-474A-EB63A2003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1092848D-52FC-2465-7139-79DB22F3E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299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45B0AAF-E088-96AD-CB62-F4A266DA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A0B785BC-E61D-269E-AFE4-4A09F6528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DDA66632-6A66-A2C2-75EE-580F70738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548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EDAB1F4C-3E2A-2A24-C630-9B5414AD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1D92E1F3-46AC-2BFB-679D-4EEB49E94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0CABD030-7678-585B-E65A-B7E1060D7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0239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28B85908-2204-D4EA-DB0B-6E7C710A8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8722A7A7-0BE5-12AC-2ACC-F6350A7AF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B532E8D6-7B15-D41B-CFF3-D42478CA4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966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.Portada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subTitle" idx="1"/>
          </p:nvPr>
        </p:nvSpPr>
        <p:spPr>
          <a:xfrm>
            <a:off x="572025" y="3409050"/>
            <a:ext cx="79848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ctrTitle"/>
          </p:nvPr>
        </p:nvSpPr>
        <p:spPr>
          <a:xfrm>
            <a:off x="784875" y="1351950"/>
            <a:ext cx="7787100" cy="20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11" name="Google Shape;1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. Texto + definición" userDrawn="1">
  <p:cSld name="SECTION_TITLE_AND_DESCRI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47;p12" descr="Forma, Círculo&#10;&#10;Descripción generada automáticamente">
            <a:extLst>
              <a:ext uri="{FF2B5EF4-FFF2-40B4-BE49-F238E27FC236}">
                <a16:creationId xmlns:a16="http://schemas.microsoft.com/office/drawing/2014/main" id="{815B3B34-4AB4-56A2-9BC5-C7E9FE939FD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762205" y="-2324989"/>
            <a:ext cx="468204" cy="554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 userDrawn="1">
  <p:cSld name="CUSTOM_3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5;p59">
            <a:extLst>
              <a:ext uri="{FF2B5EF4-FFF2-40B4-BE49-F238E27FC236}">
                <a16:creationId xmlns:a16="http://schemas.microsoft.com/office/drawing/2014/main" id="{34F06479-12B1-1455-FCF8-5047F6B76B8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3053435" y="2210339"/>
            <a:ext cx="3037130" cy="722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8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5"/>
          <p:cNvSpPr txBox="1">
            <a:spLocks noGrp="1"/>
          </p:cNvSpPr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44" name="Google Shape;144;p65"/>
          <p:cNvSpPr txBox="1">
            <a:spLocks noGrp="1"/>
          </p:cNvSpPr>
          <p:nvPr>
            <p:ph type="subTitle" idx="1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5" name="Google Shape;145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6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8" name="Google Shape;148;p66"/>
          <p:cNvSpPr txBox="1">
            <a:spLocks noGrp="1"/>
          </p:cNvSpPr>
          <p:nvPr>
            <p:ph type="subTitle" idx="1"/>
          </p:nvPr>
        </p:nvSpPr>
        <p:spPr>
          <a:xfrm>
            <a:off x="2115575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49" name="Google Shape;149;p66"/>
          <p:cNvSpPr txBox="1">
            <a:spLocks noGrp="1"/>
          </p:cNvSpPr>
          <p:nvPr>
            <p:ph type="subTitle" idx="2"/>
          </p:nvPr>
        </p:nvSpPr>
        <p:spPr>
          <a:xfrm>
            <a:off x="2016350" y="2145400"/>
            <a:ext cx="5111400" cy="17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50" name="Google Shape;150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LERNA Online">
  <p:cSld name="CUSTOM_1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7"/>
          <p:cNvSpPr txBox="1">
            <a:spLocks noGrp="1"/>
          </p:cNvSpPr>
          <p:nvPr>
            <p:ph type="title"/>
          </p:nvPr>
        </p:nvSpPr>
        <p:spPr>
          <a:xfrm>
            <a:off x="3105950" y="363275"/>
            <a:ext cx="293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3" name="Google Shape;153;p67"/>
          <p:cNvSpPr txBox="1">
            <a:spLocks noGrp="1"/>
          </p:cNvSpPr>
          <p:nvPr>
            <p:ph type="subTitle" idx="1"/>
          </p:nvPr>
        </p:nvSpPr>
        <p:spPr>
          <a:xfrm>
            <a:off x="760275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54" name="Google Shape;154;p67"/>
          <p:cNvSpPr txBox="1">
            <a:spLocks noGrp="1"/>
          </p:cNvSpPr>
          <p:nvPr>
            <p:ph type="subTitle" idx="2"/>
          </p:nvPr>
        </p:nvSpPr>
        <p:spPr>
          <a:xfrm>
            <a:off x="540000" y="2145400"/>
            <a:ext cx="3834000" cy="17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67"/>
          <p:cNvSpPr txBox="1">
            <a:spLocks noGrp="1"/>
          </p:cNvSpPr>
          <p:nvPr>
            <p:ph type="subTitle" idx="3"/>
          </p:nvPr>
        </p:nvSpPr>
        <p:spPr>
          <a:xfrm>
            <a:off x="4564200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56" name="Google Shape;156;p67"/>
          <p:cNvSpPr txBox="1">
            <a:spLocks noGrp="1"/>
          </p:cNvSpPr>
          <p:nvPr>
            <p:ph type="subTitle" idx="4"/>
          </p:nvPr>
        </p:nvSpPr>
        <p:spPr>
          <a:xfrm>
            <a:off x="4440600" y="2145400"/>
            <a:ext cx="3834000" cy="17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57" name="Google Shape;157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ADED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  <a:defRPr sz="24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●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6" r:id="rId3"/>
    <p:sldLayoutId id="2147483668" r:id="rId4"/>
    <p:sldLayoutId id="2147483669" r:id="rId5"/>
    <p:sldLayoutId id="2147483670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A55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"/>
          <p:cNvSpPr txBox="1">
            <a:spLocks noGrp="1"/>
          </p:cNvSpPr>
          <p:nvPr>
            <p:ph type="subTitle" idx="1"/>
          </p:nvPr>
        </p:nvSpPr>
        <p:spPr>
          <a:xfrm>
            <a:off x="2155902" y="3575823"/>
            <a:ext cx="4698381" cy="9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" b="1" dirty="0" err="1">
                <a:solidFill>
                  <a:srgbClr val="0E1A2B"/>
                </a:solidFill>
                <a:latin typeface="+mn-lt"/>
              </a:rPr>
              <a:t>Alumno</a:t>
            </a:r>
            <a:r>
              <a:rPr lang="en" b="1" dirty="0">
                <a:solidFill>
                  <a:srgbClr val="0E1A2B"/>
                </a:solidFill>
                <a:latin typeface="+mn-lt"/>
              </a:rPr>
              <a:t>: Marius Ion </a:t>
            </a:r>
            <a:r>
              <a:rPr lang="en" b="1" dirty="0" err="1">
                <a:solidFill>
                  <a:srgbClr val="0E1A2B"/>
                </a:solidFill>
                <a:latin typeface="+mn-lt"/>
              </a:rPr>
              <a:t>Dodu</a:t>
            </a:r>
            <a:r>
              <a:rPr lang="en" b="1" dirty="0">
                <a:solidFill>
                  <a:srgbClr val="0E1A2B"/>
                </a:solidFill>
                <a:latin typeface="+mn-lt"/>
              </a:rPr>
              <a:t> </a:t>
            </a:r>
          </a:p>
          <a:p>
            <a:pPr marL="0" indent="0">
              <a:lnSpc>
                <a:spcPct val="150000"/>
              </a:lnSpc>
            </a:pPr>
            <a:r>
              <a:rPr lang="en" b="1" dirty="0">
                <a:solidFill>
                  <a:srgbClr val="0E1A2B"/>
                </a:solidFill>
                <a:latin typeface="+mn-lt"/>
                <a:sym typeface="Avenir"/>
              </a:rPr>
              <a:t>Tutor: </a:t>
            </a:r>
            <a:r>
              <a:rPr lang="en" b="1" dirty="0">
                <a:solidFill>
                  <a:srgbClr val="0E1A2B"/>
                </a:solidFill>
                <a:latin typeface="+mn-lt"/>
              </a:rPr>
              <a:t>Emilio </a:t>
            </a:r>
            <a:r>
              <a:rPr lang="en" b="1" dirty="0" err="1">
                <a:solidFill>
                  <a:srgbClr val="0E1A2B"/>
                </a:solidFill>
                <a:latin typeface="+mn-lt"/>
              </a:rPr>
              <a:t>Saurina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 err="1">
                <a:solidFill>
                  <a:srgbClr val="0E1A2B"/>
                </a:solidFill>
                <a:latin typeface="+mn-lt"/>
              </a:rPr>
              <a:t>Semestre</a:t>
            </a:r>
            <a:r>
              <a:rPr lang="en" b="1" dirty="0">
                <a:solidFill>
                  <a:srgbClr val="0E1A2B"/>
                </a:solidFill>
                <a:latin typeface="+mn-lt"/>
              </a:rPr>
              <a:t>: 2S2526</a:t>
            </a:r>
            <a:endParaRPr b="1" dirty="0">
              <a:solidFill>
                <a:srgbClr val="0E1A2B"/>
              </a:solidFill>
              <a:latin typeface="+mn-lt"/>
              <a:sym typeface="Avenir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5648CE2A-357A-74C3-702E-EF1E9F954B45}"/>
              </a:ext>
            </a:extLst>
          </p:cNvPr>
          <p:cNvSpPr txBox="1">
            <a:spLocks/>
          </p:cNvSpPr>
          <p:nvPr/>
        </p:nvSpPr>
        <p:spPr>
          <a:xfrm>
            <a:off x="-199026" y="39958"/>
            <a:ext cx="4698381" cy="59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 lang="es-ES" dirty="0"/>
          </a:p>
          <a:p>
            <a:r>
              <a:rPr lang="es-ES" dirty="0"/>
              <a:t> CFGS Desarrollo Aplicaciones Multiplataforma</a:t>
            </a:r>
            <a:endParaRPr lang="es-ES" dirty="0">
              <a:solidFill>
                <a:schemeClr val="dk2"/>
              </a:solidFill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36D1674-3AEB-3B2D-0A5A-FB0E2AC3C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474470"/>
            <a:ext cx="91440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IndexTitle"/>
          <p:cNvSpPr txBox="1"/>
          <p:nvPr/>
        </p:nvSpPr>
        <p:spPr>
          <a:xfrm>
            <a:off x="457200" y="457200"/>
            <a:ext cx="7772400" cy="6858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/>
          <a:lstStyle/>
          <a:p>
            <a:pPr algn="l">
              <a:buNone/>
            </a:pPr>
            <a:r>
              <a:rPr lang="es-ES" sz="3600" b="1" dirty="0">
                <a:solidFill>
                  <a:schemeClr val="dk2"/>
                </a:solidFill>
              </a:rPr>
              <a:t>Índice de la </a:t>
            </a:r>
            <a:r>
              <a:rPr lang="es-ES" sz="3200" b="1" dirty="0">
                <a:solidFill>
                  <a:schemeClr val="dk2"/>
                </a:solidFill>
              </a:rPr>
              <a:t>presentación</a:t>
            </a:r>
          </a:p>
        </p:txBody>
      </p:sp>
      <p:sp>
        <p:nvSpPr>
          <p:cNvPr id="200" name="IdxCard01"/>
          <p:cNvSpPr/>
          <p:nvPr/>
        </p:nvSpPr>
        <p:spPr>
          <a:xfrm>
            <a:off x="457200" y="1371600"/>
            <a:ext cx="3886200" cy="8382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ES" sz="3200" b="1" dirty="0">
                <a:solidFill>
                  <a:schemeClr val="accent6"/>
                </a:solidFill>
              </a:rPr>
              <a:t>01  </a:t>
            </a:r>
            <a:r>
              <a:rPr lang="es-ES" sz="1800" b="1" dirty="0">
                <a:solidFill>
                  <a:schemeClr val="dk1"/>
                </a:solidFill>
              </a:rPr>
              <a:t>Motivación y objetivos</a:t>
            </a:r>
          </a:p>
        </p:txBody>
      </p:sp>
      <p:sp>
        <p:nvSpPr>
          <p:cNvPr id="201" name="IdxCard02"/>
          <p:cNvSpPr/>
          <p:nvPr/>
        </p:nvSpPr>
        <p:spPr>
          <a:xfrm>
            <a:off x="4800600" y="1371600"/>
            <a:ext cx="3886200" cy="8382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ES" sz="3200" b="1" dirty="0">
                <a:solidFill>
                  <a:schemeClr val="accent6"/>
                </a:solidFill>
              </a:rPr>
              <a:t>02  </a:t>
            </a:r>
            <a:r>
              <a:rPr lang="es-ES" sz="1800" b="1" dirty="0">
                <a:solidFill>
                  <a:schemeClr val="dk1"/>
                </a:solidFill>
              </a:rPr>
              <a:t>Estado del arte y nicho</a:t>
            </a:r>
          </a:p>
        </p:txBody>
      </p:sp>
      <p:sp>
        <p:nvSpPr>
          <p:cNvPr id="202" name="IdxCard03"/>
          <p:cNvSpPr/>
          <p:nvPr/>
        </p:nvSpPr>
        <p:spPr>
          <a:xfrm>
            <a:off x="457200" y="2362200"/>
            <a:ext cx="3886200" cy="8382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ES" sz="3200" b="1" dirty="0">
                <a:solidFill>
                  <a:schemeClr val="accent6"/>
                </a:solidFill>
              </a:rPr>
              <a:t>03  </a:t>
            </a:r>
            <a:r>
              <a:rPr lang="es-ES" sz="1800" b="1" dirty="0">
                <a:solidFill>
                  <a:schemeClr val="dk1"/>
                </a:solidFill>
              </a:rPr>
              <a:t>Metodología y stack</a:t>
            </a:r>
          </a:p>
        </p:txBody>
      </p:sp>
      <p:sp>
        <p:nvSpPr>
          <p:cNvPr id="203" name="IdxCard04"/>
          <p:cNvSpPr/>
          <p:nvPr/>
        </p:nvSpPr>
        <p:spPr>
          <a:xfrm>
            <a:off x="4800600" y="2362200"/>
            <a:ext cx="3886200" cy="8382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ES" sz="3200" b="1" dirty="0">
                <a:solidFill>
                  <a:schemeClr val="accent6"/>
                </a:solidFill>
              </a:rPr>
              <a:t>04  </a:t>
            </a:r>
            <a:r>
              <a:rPr lang="es-ES" sz="1800" b="1" dirty="0">
                <a:solidFill>
                  <a:schemeClr val="dk1"/>
                </a:solidFill>
              </a:rPr>
              <a:t>Análisis, diagramas y diseño</a:t>
            </a:r>
          </a:p>
        </p:txBody>
      </p:sp>
      <p:sp>
        <p:nvSpPr>
          <p:cNvPr id="204" name="IdxCard05"/>
          <p:cNvSpPr/>
          <p:nvPr/>
        </p:nvSpPr>
        <p:spPr>
          <a:xfrm>
            <a:off x="457200" y="3352800"/>
            <a:ext cx="3886200" cy="8382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ES" sz="3200" b="1" dirty="0">
                <a:solidFill>
                  <a:schemeClr val="accent6"/>
                </a:solidFill>
              </a:rPr>
              <a:t>05  </a:t>
            </a:r>
            <a:r>
              <a:rPr lang="es-ES" sz="1800" b="1" dirty="0">
                <a:solidFill>
                  <a:schemeClr val="dk1"/>
                </a:solidFill>
              </a:rPr>
              <a:t>Demostración en directo</a:t>
            </a:r>
          </a:p>
        </p:txBody>
      </p:sp>
      <p:sp>
        <p:nvSpPr>
          <p:cNvPr id="205" name="IdxCard06"/>
          <p:cNvSpPr/>
          <p:nvPr/>
        </p:nvSpPr>
        <p:spPr>
          <a:xfrm>
            <a:off x="4800600" y="3352800"/>
            <a:ext cx="3886200" cy="8382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s-ES" sz="3200" b="1" dirty="0">
                <a:solidFill>
                  <a:schemeClr val="accent6"/>
                </a:solidFill>
              </a:rPr>
              <a:t>06  </a:t>
            </a:r>
            <a:r>
              <a:rPr lang="es-ES" sz="1800" b="1" dirty="0">
                <a:solidFill>
                  <a:schemeClr val="dk1"/>
                </a:solidFill>
              </a:rPr>
              <a:t>Pruebas, conclusiones y vías futuras</a:t>
            </a:r>
          </a:p>
        </p:txBody>
      </p:sp>
    </p:spTree>
    <p:extLst>
      <p:ext uri="{BB962C8B-B14F-4D97-AF65-F5344CB8AC3E}">
        <p14:creationId xmlns:p14="http://schemas.microsoft.com/office/powerpoint/2010/main" val="327220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9644EF77-4144-B486-7541-60FC007F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87B326-82C5-2B72-1C40-2F1C30912208}"/>
              </a:ext>
            </a:extLst>
          </p:cNvPr>
          <p:cNvSpPr txBox="1"/>
          <p:nvPr/>
        </p:nvSpPr>
        <p:spPr>
          <a:xfrm>
            <a:off x="304800" y="129427"/>
            <a:ext cx="77724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3200" b="1" dirty="0">
                <a:solidFill>
                  <a:schemeClr val="accent1">
                    <a:lumMod val="10000"/>
                  </a:schemeClr>
                </a:solidFill>
              </a:rPr>
              <a:t>1. El problema que queremos resolver</a:t>
            </a:r>
          </a:p>
        </p:txBody>
      </p:sp>
      <p:sp>
        <p:nvSpPr>
          <p:cNvPr id="100" name="LeadText"/>
          <p:cNvSpPr txBox="1"/>
          <p:nvPr/>
        </p:nvSpPr>
        <p:spPr>
          <a:xfrm>
            <a:off x="457200" y="849999"/>
            <a:ext cx="8229600" cy="85000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es-ES" sz="1800" i="1" dirty="0">
                <a:solidFill>
                  <a:schemeClr val="dk1"/>
                </a:solidFill>
              </a:rPr>
              <a:t>«Todos hemos necesitado ayuda con un arreglo en casa o con un trámite... y muchos tenemos habilidades y tiempo que podríamos ofrecer a quien lo necesita en nuestro barrio.»</a:t>
            </a:r>
          </a:p>
        </p:txBody>
      </p:sp>
      <p:sp>
        <p:nvSpPr>
          <p:cNvPr id="101" name="Card1"/>
          <p:cNvSpPr/>
          <p:nvPr/>
        </p:nvSpPr>
        <p:spPr>
          <a:xfrm>
            <a:off x="457200" y="1900891"/>
            <a:ext cx="3886200" cy="2286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NECESIDADES SIN CUBRIR</a:t>
            </a:r>
          </a:p>
          <a:p>
            <a:pPr algn="l">
              <a:buNone/>
            </a:pPr>
            <a:r>
              <a:rPr lang="es-ES" sz="4800" b="1" dirty="0">
                <a:solidFill>
                  <a:schemeClr val="dk2"/>
                </a:solidFill>
              </a:rPr>
              <a:t>28%</a:t>
            </a:r>
          </a:p>
          <a:p>
            <a:pPr algn="l">
              <a:buNone/>
            </a:pPr>
            <a:r>
              <a:rPr lang="es-ES" sz="1500" dirty="0">
                <a:solidFill>
                  <a:schemeClr val="dk1"/>
                </a:solidFill>
              </a:rPr>
              <a:t>de los hogares en España en riesgo de pobreza o exclusión social </a:t>
            </a:r>
            <a:r>
              <a:rPr lang="es-ES" sz="1400" i="1" dirty="0">
                <a:solidFill>
                  <a:schemeClr val="dk1"/>
                </a:solidFill>
              </a:rPr>
              <a:t>(INE, 2024)</a:t>
            </a:r>
          </a:p>
        </p:txBody>
      </p:sp>
      <p:sp>
        <p:nvSpPr>
          <p:cNvPr id="102" name="Card2"/>
          <p:cNvSpPr/>
          <p:nvPr/>
        </p:nvSpPr>
        <p:spPr>
          <a:xfrm>
            <a:off x="4800600" y="1900891"/>
            <a:ext cx="3886200" cy="2286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RECURSOS DISPONIBLES</a:t>
            </a:r>
          </a:p>
          <a:p>
            <a:pPr algn="l">
              <a:buNone/>
            </a:pPr>
            <a:r>
              <a:rPr lang="es-ES" sz="4800" b="1" dirty="0">
                <a:solidFill>
                  <a:schemeClr val="accent6"/>
                </a:solidFill>
              </a:rPr>
              <a:t>+</a:t>
            </a:r>
          </a:p>
          <a:p>
            <a:pPr algn="l">
              <a:buNone/>
            </a:pPr>
            <a:r>
              <a:rPr lang="es-ES" sz="1500" dirty="0">
                <a:solidFill>
                  <a:schemeClr val="dk1"/>
                </a:solidFill>
              </a:rPr>
              <a:t>vecinos con </a:t>
            </a:r>
            <a:r>
              <a:rPr lang="es-ES" sz="1500" b="1" dirty="0">
                <a:solidFill>
                  <a:schemeClr val="dk1"/>
                </a:solidFill>
              </a:rPr>
              <a:t>habilidades y tiempo</a:t>
            </a:r>
            <a:r>
              <a:rPr lang="es-ES" sz="1500" dirty="0">
                <a:solidFill>
                  <a:schemeClr val="dk1"/>
                </a:solidFill>
              </a:rPr>
              <a:t> disponibles para ayudar a otros en el barrio</a:t>
            </a:r>
          </a:p>
        </p:txBody>
      </p:sp>
      <p:sp>
        <p:nvSpPr>
          <p:cNvPr id="103" name="Closing"/>
          <p:cNvSpPr txBox="1"/>
          <p:nvPr/>
        </p:nvSpPr>
        <p:spPr>
          <a:xfrm>
            <a:off x="457200" y="4387781"/>
            <a:ext cx="82296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800" b="1" dirty="0">
                <a:solidFill>
                  <a:schemeClr val="dk2"/>
                </a:solidFill>
              </a:rPr>
              <a:t>Falta el canal que los conecte.</a:t>
            </a:r>
          </a:p>
        </p:txBody>
      </p:sp>
    </p:spTree>
    <p:extLst>
      <p:ext uri="{BB962C8B-B14F-4D97-AF65-F5344CB8AC3E}">
        <p14:creationId xmlns:p14="http://schemas.microsoft.com/office/powerpoint/2010/main" val="4168713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457200"/>
            <a:ext cx="8229600" cy="60000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rtlCol="0" anchor="t"/>
          <a:lstStyle/>
          <a:p>
            <a:pPr>
              <a:buNone/>
            </a:pPr>
            <a:r>
              <a:rPr lang="es-ES" sz="3200" b="1" dirty="0">
                <a:solidFill>
                  <a:schemeClr val="dk2"/>
                </a:solidFill>
              </a:rPr>
              <a:t>La solución: VecindApp</a:t>
            </a:r>
          </a:p>
        </p:txBody>
      </p:sp>
      <p:sp>
        <p:nvSpPr>
          <p:cNvPr id="11" name="Sub"/>
          <p:cNvSpPr txBox="1"/>
          <p:nvPr/>
        </p:nvSpPr>
        <p:spPr>
          <a:xfrm>
            <a:off x="457200" y="1100000"/>
            <a:ext cx="8229600" cy="5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buNone/>
            </a:pPr>
            <a:r>
              <a:rPr lang="es-ES" sz="1600" dirty="0">
                <a:solidFill>
                  <a:schemeClr val="dk1"/>
                </a:solidFill>
              </a:rPr>
              <a:t>Una aplicación Android que conecta vecinos para intercambiar servicios usando el tiempo como única moneda, con accesibilidad universal desde el minuto uno.</a:t>
            </a:r>
          </a:p>
        </p:txBody>
      </p:sp>
      <p:sp>
        <p:nvSpPr>
          <p:cNvPr id="20" name="Pillar"/>
          <p:cNvSpPr/>
          <p:nvPr/>
        </p:nvSpPr>
        <p:spPr>
          <a:xfrm>
            <a:off x="369009" y="1850000"/>
            <a:ext cx="2743200" cy="24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74320" bIns="228600" rtlCol="0" anchor="t"/>
          <a:lstStyle/>
          <a:p>
            <a:r>
              <a:rPr lang="es-ES" sz="1300" b="1" dirty="0">
                <a:solidFill>
                  <a:schemeClr val="accent6"/>
                </a:solidFill>
              </a:rPr>
              <a:t>Hiperlocal</a:t>
            </a:r>
          </a:p>
          <a:p>
            <a:r>
              <a:rPr lang="es-ES" sz="1300" b="1" dirty="0">
                <a:solidFill>
                  <a:schemeClr val="accent6"/>
                </a:solidFill>
              </a:rPr>
              <a:t>Conexión entre vecinos del mismo barrio, con publicaciones y categorías visuales.</a:t>
            </a:r>
          </a:p>
        </p:txBody>
      </p:sp>
      <p:sp>
        <p:nvSpPr>
          <p:cNvPr id="21" name="Pillar"/>
          <p:cNvSpPr/>
          <p:nvPr/>
        </p:nvSpPr>
        <p:spPr>
          <a:xfrm>
            <a:off x="3200400" y="1850000"/>
            <a:ext cx="2743200" cy="24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74320" bIns="228600" rtlCol="0" anchor="t"/>
          <a:lstStyle/>
          <a:p>
            <a:r>
              <a:rPr lang="es-ES" sz="1300" b="1" dirty="0">
                <a:solidFill>
                  <a:schemeClr val="accent6"/>
                </a:solidFill>
              </a:rPr>
              <a:t>Banco de tiempo</a:t>
            </a:r>
          </a:p>
          <a:p>
            <a:r>
              <a:rPr lang="es-ES" sz="1300" b="1" dirty="0">
                <a:solidFill>
                  <a:schemeClr val="accent6"/>
                </a:solidFill>
              </a:rPr>
              <a:t>Una hora vale lo mismo para todos, sin dinero. Saldo inicial: 2h para empezar.</a:t>
            </a:r>
          </a:p>
        </p:txBody>
      </p:sp>
      <p:sp>
        <p:nvSpPr>
          <p:cNvPr id="22" name="Pillar"/>
          <p:cNvSpPr/>
          <p:nvPr/>
        </p:nvSpPr>
        <p:spPr>
          <a:xfrm>
            <a:off x="6031791" y="1850000"/>
            <a:ext cx="2743200" cy="24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74320" bIns="228600" rtlCol="0" anchor="t"/>
          <a:lstStyle/>
          <a:p>
            <a:r>
              <a:rPr lang="es-ES" sz="1300" b="1" dirty="0">
                <a:solidFill>
                  <a:schemeClr val="accent6"/>
                </a:solidFill>
              </a:rPr>
              <a:t>Accesible</a:t>
            </a:r>
          </a:p>
          <a:p>
            <a:r>
              <a:rPr lang="es-ES" sz="1300" b="1" dirty="0">
                <a:solidFill>
                  <a:schemeClr val="accent6"/>
                </a:solidFill>
              </a:rPr>
              <a:t>TTS nativo + pictogramas ARASAAC. Accesibilidad activa, no pasiva.</a:t>
            </a:r>
          </a:p>
        </p:txBody>
      </p:sp>
      <p:sp>
        <p:nvSpPr>
          <p:cNvPr id="50" name="Tag"/>
          <p:cNvSpPr txBox="1"/>
          <p:nvPr/>
        </p:nvSpPr>
        <p:spPr>
          <a:xfrm>
            <a:off x="457200" y="4400000"/>
            <a:ext cx="82296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600" b="1" i="1" dirty="0">
                <a:solidFill>
                  <a:schemeClr val="accent6"/>
                </a:solidFill>
              </a:rPr>
              <a:t>Enfoque offline-first · Android nativo · Sin backend remoto</a:t>
            </a:r>
          </a:p>
        </p:txBody>
      </p:sp>
    </p:spTree>
    <p:extLst>
      <p:ext uri="{BB962C8B-B14F-4D97-AF65-F5344CB8AC3E}">
        <p14:creationId xmlns:p14="http://schemas.microsoft.com/office/powerpoint/2010/main" val="217058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457200"/>
            <a:ext cx="8229600" cy="60000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rtlCol="0" anchor="t"/>
          <a:lstStyle/>
          <a:p>
            <a:pPr>
              <a:buNone/>
            </a:pPr>
            <a:r>
              <a:rPr lang="es-ES" sz="3200" b="1" dirty="0">
                <a:solidFill>
                  <a:schemeClr val="dk2"/>
                </a:solidFill>
              </a:rPr>
              <a:t>Objetivo general y arquitectura</a:t>
            </a:r>
          </a:p>
        </p:txBody>
      </p:sp>
      <p:sp>
        <p:nvSpPr>
          <p:cNvPr id="11" name="BigBox"/>
          <p:cNvSpPr/>
          <p:nvPr/>
        </p:nvSpPr>
        <p:spPr>
          <a:xfrm>
            <a:off x="457200" y="1150000"/>
            <a:ext cx="8229600" cy="15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182880" rIns="274320" bIns="182880" rtlCol="0" anchor="ctr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OBJETIVO GENERAL</a:t>
            </a:r>
          </a:p>
          <a:p>
            <a:pPr algn="l">
              <a:buNone/>
            </a:pPr>
            <a:r>
              <a:rPr lang="es-ES" sz="1700" dirty="0">
                <a:solidFill>
                  <a:schemeClr val="dk1"/>
                </a:solidFill>
              </a:rPr>
              <a:t>Desarrollar una aplicación Android nativa plenamente funcional que permita gestionar, publicar e intercambiar servicios vecinales mediante un saldo de horas, con una interfaz accesible para cualquier persona que la necesite.</a:t>
            </a:r>
          </a:p>
        </p:txBody>
      </p:sp>
      <p:sp>
        <p:nvSpPr>
          <p:cNvPr id="12" name="Arch"/>
          <p:cNvSpPr/>
          <p:nvPr/>
        </p:nvSpPr>
        <p:spPr>
          <a:xfrm>
            <a:off x="457200" y="2800000"/>
            <a:ext cx="8229600" cy="160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182880" rIns="274320" bIns="182880" rtlCol="0" anchor="ctr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PATRÓN ARQUITECTÓNICO</a:t>
            </a:r>
          </a:p>
          <a:p>
            <a:pPr algn="l">
              <a:buNone/>
            </a:pPr>
            <a:r>
              <a:rPr lang="es-ES" sz="2400" b="1" dirty="0">
                <a:solidFill>
                  <a:schemeClr val="accent1">
                    <a:lumMod val="10000"/>
                  </a:schemeClr>
                </a:solidFill>
              </a:rPr>
              <a:t>MVVM + Clean Architecture</a:t>
            </a:r>
          </a:p>
          <a:p>
            <a:pPr algn="l">
              <a:buNone/>
            </a:pPr>
            <a:r>
              <a:rPr lang="es-ES" sz="1500" dirty="0">
                <a:solidFill>
                  <a:schemeClr val="dk1"/>
                </a:solidFill>
              </a:rPr>
              <a:t>Código escalable y mantenible, organizado en 4 capas: </a:t>
            </a:r>
            <a:r>
              <a:rPr lang="es-ES" sz="1500" b="1" dirty="0">
                <a:solidFill>
                  <a:schemeClr val="dk1"/>
                </a:solidFill>
              </a:rPr>
              <a:t>data · domain · ui · common</a:t>
            </a:r>
          </a:p>
        </p:txBody>
      </p:sp>
    </p:spTree>
    <p:extLst>
      <p:ext uri="{BB962C8B-B14F-4D97-AF65-F5344CB8AC3E}">
        <p14:creationId xmlns:p14="http://schemas.microsoft.com/office/powerpoint/2010/main" val="73182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300000"/>
            <a:ext cx="8229600" cy="50000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rtlCol="0" anchor="t"/>
          <a:lstStyle/>
          <a:p>
            <a:pPr>
              <a:buNone/>
            </a:pPr>
            <a:r>
              <a:rPr lang="es-ES" sz="2800" b="1" dirty="0">
                <a:solidFill>
                  <a:schemeClr val="dk2"/>
                </a:solidFill>
              </a:rPr>
              <a:t>8 objetivos específicos SMART</a:t>
            </a:r>
          </a:p>
        </p:txBody>
      </p:sp>
      <p:sp>
        <p:nvSpPr>
          <p:cNvPr id="20" name="OEOE-01"/>
          <p:cNvSpPr/>
          <p:nvPr/>
        </p:nvSpPr>
        <p:spPr>
          <a:xfrm>
            <a:off x="495300" y="1000000"/>
            <a:ext cx="1981200" cy="17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OE-01</a:t>
            </a:r>
          </a:p>
          <a:p>
            <a:pPr algn="l">
              <a:buNone/>
            </a:pPr>
            <a:r>
              <a:rPr lang="es-ES" sz="1600" b="1" dirty="0">
                <a:solidFill>
                  <a:schemeClr val="dk2"/>
                </a:solidFill>
              </a:rPr>
              <a:t>Base de datos local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Room con 4 entidades y relaciones FK</a:t>
            </a:r>
          </a:p>
        </p:txBody>
      </p:sp>
      <p:sp>
        <p:nvSpPr>
          <p:cNvPr id="21" name="OEOE-02"/>
          <p:cNvSpPr/>
          <p:nvPr/>
        </p:nvSpPr>
        <p:spPr>
          <a:xfrm>
            <a:off x="2552700" y="1000000"/>
            <a:ext cx="1981200" cy="17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OE-02</a:t>
            </a:r>
          </a:p>
          <a:p>
            <a:pPr algn="l">
              <a:buNone/>
            </a:pPr>
            <a:r>
              <a:rPr lang="es-ES" sz="1600" b="1" dirty="0">
                <a:solidFill>
                  <a:schemeClr val="dk2"/>
                </a:solidFill>
              </a:rPr>
              <a:t>Transacciones atómicas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Con validación de saldo</a:t>
            </a:r>
          </a:p>
        </p:txBody>
      </p:sp>
      <p:sp>
        <p:nvSpPr>
          <p:cNvPr id="22" name="OEOE-03"/>
          <p:cNvSpPr/>
          <p:nvPr/>
        </p:nvSpPr>
        <p:spPr>
          <a:xfrm>
            <a:off x="4610100" y="1000000"/>
            <a:ext cx="1981200" cy="17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OE-03</a:t>
            </a:r>
          </a:p>
          <a:p>
            <a:pPr algn="l">
              <a:buNone/>
            </a:pPr>
            <a:r>
              <a:rPr lang="es-ES" sz="1600" b="1" dirty="0">
                <a:solidFill>
                  <a:schemeClr val="dk2"/>
                </a:solidFill>
              </a:rPr>
              <a:t>TTS nativo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Lectura en voz alta accesible</a:t>
            </a:r>
          </a:p>
        </p:txBody>
      </p:sp>
      <p:sp>
        <p:nvSpPr>
          <p:cNvPr id="23" name="OEOE-04"/>
          <p:cNvSpPr/>
          <p:nvPr/>
        </p:nvSpPr>
        <p:spPr>
          <a:xfrm>
            <a:off x="6667500" y="1000000"/>
            <a:ext cx="1981200" cy="17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OE-04</a:t>
            </a:r>
          </a:p>
          <a:p>
            <a:pPr algn="l">
              <a:buNone/>
            </a:pPr>
            <a:r>
              <a:rPr lang="es-ES" sz="1600" b="1" dirty="0">
                <a:solidFill>
                  <a:schemeClr val="dk2"/>
                </a:solidFill>
              </a:rPr>
              <a:t>Valoraciones ARASAAC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Pictogramas en lugar de estrellas</a:t>
            </a:r>
          </a:p>
        </p:txBody>
      </p:sp>
      <p:sp>
        <p:nvSpPr>
          <p:cNvPr id="24" name="OEOE-05"/>
          <p:cNvSpPr/>
          <p:nvPr/>
        </p:nvSpPr>
        <p:spPr>
          <a:xfrm>
            <a:off x="495300" y="2800000"/>
            <a:ext cx="1981200" cy="17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OE-05</a:t>
            </a:r>
          </a:p>
          <a:p>
            <a:pPr algn="l">
              <a:buNone/>
            </a:pPr>
            <a:r>
              <a:rPr lang="es-ES" sz="1600" b="1" dirty="0">
                <a:solidFill>
                  <a:schemeClr val="dk2"/>
                </a:solidFill>
              </a:rPr>
              <a:t>Dashboard gráfico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Historial con MPAndroidChart</a:t>
            </a:r>
          </a:p>
        </p:txBody>
      </p:sp>
      <p:sp>
        <p:nvSpPr>
          <p:cNvPr id="25" name="OEOE-06"/>
          <p:cNvSpPr/>
          <p:nvPr/>
        </p:nvSpPr>
        <p:spPr>
          <a:xfrm>
            <a:off x="2552700" y="2800000"/>
            <a:ext cx="1981200" cy="17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OE-06</a:t>
            </a:r>
          </a:p>
          <a:p>
            <a:pPr algn="l">
              <a:buNone/>
            </a:pPr>
            <a:r>
              <a:rPr lang="es-ES" sz="1600" b="1" dirty="0">
                <a:solidFill>
                  <a:schemeClr val="dk2"/>
                </a:solidFill>
              </a:rPr>
              <a:t>Autenticación local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Con nombres únicos</a:t>
            </a:r>
          </a:p>
        </p:txBody>
      </p:sp>
      <p:sp>
        <p:nvSpPr>
          <p:cNvPr id="26" name="OEOE-07"/>
          <p:cNvSpPr/>
          <p:nvPr/>
        </p:nvSpPr>
        <p:spPr>
          <a:xfrm>
            <a:off x="4610100" y="2800000"/>
            <a:ext cx="1981200" cy="17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OE-07</a:t>
            </a:r>
          </a:p>
          <a:p>
            <a:pPr algn="l">
              <a:buNone/>
            </a:pPr>
            <a:r>
              <a:rPr lang="es-ES" sz="1600" b="1" dirty="0">
                <a:solidFill>
                  <a:schemeClr val="dk2"/>
                </a:solidFill>
              </a:rPr>
              <a:t>Categorización visual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Escaparate con pictogramas dinámicos</a:t>
            </a:r>
          </a:p>
        </p:txBody>
      </p:sp>
      <p:sp>
        <p:nvSpPr>
          <p:cNvPr id="27" name="OEOE-08"/>
          <p:cNvSpPr/>
          <p:nvPr/>
        </p:nvSpPr>
        <p:spPr>
          <a:xfrm>
            <a:off x="6667500" y="2800000"/>
            <a:ext cx="1981200" cy="17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400" b="1" dirty="0">
                <a:solidFill>
                  <a:schemeClr val="accent6"/>
                </a:solidFill>
              </a:rPr>
              <a:t>OE-08</a:t>
            </a:r>
          </a:p>
          <a:p>
            <a:pPr algn="l">
              <a:buNone/>
            </a:pPr>
            <a:r>
              <a:rPr lang="es-ES" sz="1600" b="1" dirty="0">
                <a:solidFill>
                  <a:schemeClr val="dk2"/>
                </a:solidFill>
              </a:rPr>
              <a:t>Notificaciones reactivas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Badge en el BottomNav</a:t>
            </a:r>
          </a:p>
        </p:txBody>
      </p:sp>
      <p:sp>
        <p:nvSpPr>
          <p:cNvPr id="90" name="Foot"/>
          <p:cNvSpPr txBox="1"/>
          <p:nvPr/>
        </p:nvSpPr>
        <p:spPr>
          <a:xfrm>
            <a:off x="457200" y="4650000"/>
            <a:ext cx="82296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400" i="1" dirty="0">
                <a:solidFill>
                  <a:schemeClr val="accent6"/>
                </a:solidFill>
              </a:rPr>
              <a:t>Veremos al final qué objetivos se cumplieron... y cuáles se superaron en alcance.</a:t>
            </a:r>
          </a:p>
        </p:txBody>
      </p:sp>
    </p:spTree>
    <p:extLst>
      <p:ext uri="{BB962C8B-B14F-4D97-AF65-F5344CB8AC3E}">
        <p14:creationId xmlns:p14="http://schemas.microsoft.com/office/powerpoint/2010/main" val="120649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457200"/>
            <a:ext cx="8229600" cy="60000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rtlCol="0" anchor="t"/>
          <a:lstStyle/>
          <a:p>
            <a:pPr>
              <a:buNone/>
            </a:pPr>
            <a:r>
              <a:rPr lang="es-ES" sz="3200" b="1" dirty="0">
                <a:solidFill>
                  <a:schemeClr val="dk2"/>
                </a:solidFill>
              </a:rPr>
              <a:t>Conceptos clave</a:t>
            </a:r>
          </a:p>
        </p:txBody>
      </p:sp>
      <p:sp>
        <p:nvSpPr>
          <p:cNvPr id="11" name="Card1"/>
          <p:cNvSpPr/>
          <p:nvPr/>
        </p:nvSpPr>
        <p:spPr>
          <a:xfrm>
            <a:off x="457200" y="1200000"/>
            <a:ext cx="4000500" cy="33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74320" bIns="228600" rtlCol="0" anchor="t"/>
          <a:lstStyle/>
          <a:p>
            <a:pPr algn="l">
              <a:buNone/>
            </a:pPr>
            <a:r>
              <a:rPr lang="es-ES" sz="1300" b="1" dirty="0">
                <a:solidFill>
                  <a:schemeClr val="accent6"/>
                </a:solidFill>
              </a:rPr>
              <a:t>CONCEPTO 1</a:t>
            </a:r>
          </a:p>
          <a:p>
            <a:pPr algn="l">
              <a:buNone/>
            </a:pPr>
            <a:r>
              <a:rPr lang="es-ES" sz="2200" b="1" dirty="0">
                <a:solidFill>
                  <a:schemeClr val="dk2"/>
                </a:solidFill>
              </a:rPr>
              <a:t>Banco de tiempo</a:t>
            </a:r>
          </a:p>
          <a:p>
            <a:pPr algn="l">
              <a:buNone/>
            </a:pPr>
            <a:r>
              <a:rPr lang="es-ES" sz="1500" dirty="0">
                <a:solidFill>
                  <a:schemeClr val="dk1"/>
                </a:solidFill>
              </a:rPr>
              <a:t>Mecanismo de economía colaborativa donde la moneda no es el dinero, sino el tiempo.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accent6"/>
                </a:solidFill>
              </a:rPr>
              <a:t>1 hora = 1 hora para todos</a:t>
            </a:r>
          </a:p>
          <a:p>
            <a:pPr algn="l">
              <a:buNone/>
            </a:pPr>
            <a:r>
              <a:rPr lang="es-ES" sz="1400" dirty="0">
                <a:solidFill>
                  <a:schemeClr val="dk1"/>
                </a:solidFill>
              </a:rPr>
              <a:t>independientemente del servicio prestado.</a:t>
            </a:r>
          </a:p>
        </p:txBody>
      </p:sp>
      <p:sp>
        <p:nvSpPr>
          <p:cNvPr id="12" name="Card2"/>
          <p:cNvSpPr/>
          <p:nvPr/>
        </p:nvSpPr>
        <p:spPr>
          <a:xfrm>
            <a:off x="4686300" y="1200000"/>
            <a:ext cx="4000500" cy="330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74320" bIns="228600" rtlCol="0" anchor="t"/>
          <a:lstStyle/>
          <a:p>
            <a:pPr algn="l">
              <a:buNone/>
            </a:pPr>
            <a:r>
              <a:rPr lang="es-ES" sz="1300" b="1" dirty="0">
                <a:solidFill>
                  <a:schemeClr val="accent6"/>
                </a:solidFill>
              </a:rPr>
              <a:t>CONCEPTO 2</a:t>
            </a:r>
          </a:p>
          <a:p>
            <a:pPr algn="l">
              <a:buNone/>
            </a:pPr>
            <a:r>
              <a:rPr lang="es-ES" sz="2200" b="1" dirty="0">
                <a:solidFill>
                  <a:schemeClr val="dk2"/>
                </a:solidFill>
              </a:rPr>
              <a:t>Accesibilidad</a:t>
            </a:r>
          </a:p>
          <a:p>
            <a:pPr algn="l">
              <a:buNone/>
            </a:pPr>
            <a:r>
              <a:rPr lang="es-ES" sz="1500" dirty="0">
                <a:solidFill>
                  <a:schemeClr val="dk1"/>
                </a:solidFill>
              </a:rPr>
              <a:t>Desde junio de 2025, el </a:t>
            </a:r>
            <a:r>
              <a:rPr lang="es-ES" sz="1500" b="1" dirty="0">
                <a:solidFill>
                  <a:schemeClr val="dk1"/>
                </a:solidFill>
              </a:rPr>
              <a:t>Acta Europea de Accesibilidad</a:t>
            </a:r>
            <a:r>
              <a:rPr lang="es-ES" sz="1500" dirty="0">
                <a:solidFill>
                  <a:schemeClr val="dk1"/>
                </a:solidFill>
              </a:rPr>
              <a:t> obliga a cumplir las WCAG 2.2 AA.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accent6"/>
                </a:solidFill>
              </a:rPr>
              <a:t>Ya no es una buena práctica: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accent6"/>
                </a:solidFill>
              </a:rPr>
              <a:t>es obligación legal.</a:t>
            </a:r>
          </a:p>
        </p:txBody>
      </p:sp>
      <p:sp>
        <p:nvSpPr>
          <p:cNvPr id="13" name="Foot"/>
          <p:cNvSpPr txBox="1"/>
          <p:nvPr/>
        </p:nvSpPr>
        <p:spPr>
          <a:xfrm>
            <a:off x="457200" y="4600000"/>
            <a:ext cx="82296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400" dirty="0">
                <a:solidFill>
                  <a:schemeClr val="dk1"/>
                </a:solidFill>
              </a:rPr>
              <a:t>VecindApp integra </a:t>
            </a:r>
            <a:r>
              <a:rPr lang="es-ES" sz="1400" b="1" dirty="0">
                <a:solidFill>
                  <a:schemeClr val="accent6"/>
                </a:solidFill>
              </a:rPr>
              <a:t>TTS nativo</a:t>
            </a:r>
            <a:r>
              <a:rPr lang="es-ES" sz="1400" dirty="0">
                <a:solidFill>
                  <a:schemeClr val="dk1"/>
                </a:solidFill>
              </a:rPr>
              <a:t> + </a:t>
            </a:r>
            <a:r>
              <a:rPr lang="es-ES" sz="1400" b="1" dirty="0">
                <a:solidFill>
                  <a:schemeClr val="accent6"/>
                </a:solidFill>
              </a:rPr>
              <a:t>pictogramas ARASAAC</a:t>
            </a:r>
            <a:r>
              <a:rPr lang="es-ES" sz="1400" dirty="0">
                <a:solidFill>
                  <a:schemeClr val="dk1"/>
                </a:solidFill>
              </a:rPr>
              <a:t> (12.000+ bajo CC, estándar internacional en Comunicación Aumentativa).</a:t>
            </a:r>
          </a:p>
        </p:txBody>
      </p:sp>
    </p:spTree>
    <p:extLst>
      <p:ext uri="{BB962C8B-B14F-4D97-AF65-F5344CB8AC3E}">
        <p14:creationId xmlns:p14="http://schemas.microsoft.com/office/powerpoint/2010/main" val="3543682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83C70A4A-5833-D44F-D5A5-F7638D59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45B5F0E-F3B2-DFAF-4943-BC547D6EE3E7}"/>
              </a:ext>
            </a:extLst>
          </p:cNvPr>
          <p:cNvSpPr txBox="1"/>
          <p:nvPr/>
        </p:nvSpPr>
        <p:spPr>
          <a:xfrm>
            <a:off x="207819" y="143282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3200" b="1" dirty="0">
                <a:solidFill>
                  <a:schemeClr val="accent1">
                    <a:lumMod val="10000"/>
                  </a:schemeClr>
                </a:solidFill>
              </a:rPr>
              <a:t>2. </a:t>
            </a:r>
            <a:r>
              <a:rPr lang="es-ES" sz="2800" b="1" dirty="0">
                <a:solidFill>
                  <a:schemeClr val="accent1">
                    <a:lumMod val="10000"/>
                  </a:schemeClr>
                </a:solidFill>
              </a:rPr>
              <a:t>Estado del arte: plataformas comparadas</a:t>
            </a:r>
            <a:endParaRPr lang="es-ES" sz="3200" b="1" dirty="0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20" name="Plat"/>
          <p:cNvSpPr/>
          <p:nvPr/>
        </p:nvSpPr>
        <p:spPr>
          <a:xfrm>
            <a:off x="457200" y="1050000"/>
            <a:ext cx="3962400" cy="165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t"/>
          <a:lstStyle/>
          <a:p>
            <a:pPr algn="l">
              <a:buNone/>
            </a:pPr>
            <a:r>
              <a:rPr lang="es-ES" sz="1900" b="1" dirty="0">
                <a:solidFill>
                  <a:schemeClr val="dk2"/>
                </a:solidFill>
              </a:rPr>
              <a:t>Nextdoor</a:t>
            </a:r>
          </a:p>
          <a:p>
            <a:pPr algn="l">
              <a:buNone/>
            </a:pPr>
            <a:r>
              <a:rPr lang="es-ES" sz="1400" i="1" dirty="0">
                <a:solidFill>
                  <a:schemeClr val="dk1"/>
                </a:solidFill>
              </a:rPr>
              <a:t>Red vecinal potente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EE.UU., 11 países, 265K barrios. Financiada con capital riesgo y publicidad.</a:t>
            </a:r>
          </a:p>
          <a:p>
            <a:pPr algn="l">
              <a:buNone/>
            </a:pPr>
            <a:r>
              <a:rPr lang="es-ES" sz="1300" b="1" dirty="0">
                <a:solidFill>
                  <a:schemeClr val="accent6"/>
                </a:solidFill>
              </a:rPr>
              <a:t>⚠ NO es banco de tiempo</a:t>
            </a:r>
          </a:p>
        </p:txBody>
      </p:sp>
      <p:sp>
        <p:nvSpPr>
          <p:cNvPr id="21" name="Plat"/>
          <p:cNvSpPr/>
          <p:nvPr/>
        </p:nvSpPr>
        <p:spPr>
          <a:xfrm>
            <a:off x="4572000" y="1050000"/>
            <a:ext cx="3962400" cy="165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t"/>
          <a:lstStyle/>
          <a:p>
            <a:pPr algn="l">
              <a:buNone/>
            </a:pPr>
            <a:r>
              <a:rPr lang="es-ES" sz="1900" b="1" dirty="0">
                <a:solidFill>
                  <a:schemeClr val="dk2"/>
                </a:solidFill>
              </a:rPr>
              <a:t>¿Tienes sal?</a:t>
            </a:r>
          </a:p>
          <a:p>
            <a:pPr algn="l">
              <a:buNone/>
            </a:pPr>
            <a:r>
              <a:rPr lang="es-ES" sz="1400" i="1" dirty="0">
                <a:solidFill>
                  <a:schemeClr val="dk1"/>
                </a:solidFill>
              </a:rPr>
              <a:t>España, 560 vecindarios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Red local potente en su momento.</a:t>
            </a:r>
          </a:p>
          <a:p>
            <a:pPr algn="l">
              <a:buNone/>
            </a:pPr>
            <a:r>
              <a:rPr lang="es-ES" sz="1300" b="1" dirty="0">
                <a:solidFill>
                  <a:schemeClr val="accent6"/>
                </a:solidFill>
              </a:rPr>
              <a:t>⚠ Cerró por problemas de monetización ética</a:t>
            </a:r>
          </a:p>
        </p:txBody>
      </p:sp>
      <p:sp>
        <p:nvSpPr>
          <p:cNvPr id="22" name="Plat"/>
          <p:cNvSpPr/>
          <p:nvPr/>
        </p:nvSpPr>
        <p:spPr>
          <a:xfrm>
            <a:off x="457200" y="2852400"/>
            <a:ext cx="3962400" cy="165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t"/>
          <a:lstStyle/>
          <a:p>
            <a:pPr algn="l">
              <a:buNone/>
            </a:pPr>
            <a:r>
              <a:rPr lang="es-ES" sz="1900" b="1" dirty="0">
                <a:solidFill>
                  <a:schemeClr val="dk2"/>
                </a:solidFill>
              </a:rPr>
              <a:t>TimeOverflow</a:t>
            </a:r>
          </a:p>
          <a:p>
            <a:pPr algn="l">
              <a:buNone/>
            </a:pPr>
            <a:r>
              <a:rPr lang="es-ES" sz="1400" i="1" dirty="0">
                <a:solidFill>
                  <a:schemeClr val="dk1"/>
                </a:solidFill>
              </a:rPr>
              <a:t>Software oficial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De la Asociación de Bancos de Tiempo.</a:t>
            </a:r>
          </a:p>
          <a:p>
            <a:pPr algn="l">
              <a:buNone/>
            </a:pPr>
            <a:r>
              <a:rPr lang="es-ES" sz="1300" b="1" dirty="0">
                <a:solidFill>
                  <a:schemeClr val="accent6"/>
                </a:solidFill>
              </a:rPr>
              <a:t>⚠ Portal web administrativo, no es app móvil</a:t>
            </a:r>
          </a:p>
        </p:txBody>
      </p:sp>
      <p:sp>
        <p:nvSpPr>
          <p:cNvPr id="23" name="Plat"/>
          <p:cNvSpPr/>
          <p:nvPr/>
        </p:nvSpPr>
        <p:spPr>
          <a:xfrm>
            <a:off x="4572000" y="2852400"/>
            <a:ext cx="3962400" cy="165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t"/>
          <a:lstStyle/>
          <a:p>
            <a:pPr algn="l">
              <a:buNone/>
            </a:pPr>
            <a:r>
              <a:rPr lang="es-ES" sz="1900" b="1" dirty="0">
                <a:solidFill>
                  <a:schemeClr val="dk2"/>
                </a:solidFill>
              </a:rPr>
              <a:t>TimeRepublik</a:t>
            </a:r>
          </a:p>
          <a:p>
            <a:pPr algn="l">
              <a:buNone/>
            </a:pPr>
            <a:r>
              <a:rPr lang="es-ES" sz="1400" i="1" dirty="0">
                <a:solidFill>
                  <a:schemeClr val="dk1"/>
                </a:solidFill>
              </a:rPr>
              <a:t>Red global</a:t>
            </a:r>
          </a:p>
          <a:p>
            <a:pPr algn="l">
              <a:buNone/>
            </a:pPr>
            <a:r>
              <a:rPr lang="es-ES" sz="1300" dirty="0">
                <a:solidFill>
                  <a:schemeClr val="dk1"/>
                </a:solidFill>
              </a:rPr>
              <a:t>Con moneda propia «TimeCoins». Escalable.</a:t>
            </a:r>
          </a:p>
          <a:p>
            <a:pPr algn="l">
              <a:buNone/>
            </a:pPr>
            <a:r>
              <a:rPr lang="es-ES" sz="1300" b="1" dirty="0">
                <a:solidFill>
                  <a:schemeClr val="accent6"/>
                </a:solidFill>
              </a:rPr>
              <a:t>⚠ Sin componente hiperlocal</a:t>
            </a:r>
          </a:p>
        </p:txBody>
      </p:sp>
      <p:sp>
        <p:nvSpPr>
          <p:cNvPr id="90" name="Foot"/>
          <p:cNvSpPr txBox="1"/>
          <p:nvPr/>
        </p:nvSpPr>
        <p:spPr>
          <a:xfrm>
            <a:off x="457200" y="4500000"/>
            <a:ext cx="82296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500" b="1" i="1" dirty="0">
                <a:solidFill>
                  <a:schemeClr val="accent6"/>
                </a:solidFill>
              </a:rPr>
              <a:t>Ninguna integra accesibilidad avanzada.</a:t>
            </a:r>
          </a:p>
        </p:txBody>
      </p:sp>
    </p:spTree>
    <p:extLst>
      <p:ext uri="{BB962C8B-B14F-4D97-AF65-F5344CB8AC3E}">
        <p14:creationId xmlns:p14="http://schemas.microsoft.com/office/powerpoint/2010/main" val="77581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8737" y="138383"/>
            <a:ext cx="8229600" cy="50000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rtlCol="0" anchor="t"/>
          <a:lstStyle/>
          <a:p>
            <a:pPr>
              <a:buNone/>
            </a:pPr>
            <a:r>
              <a:rPr lang="es-ES" sz="3000" b="1" dirty="0">
                <a:solidFill>
                  <a:schemeClr val="dk2"/>
                </a:solidFill>
              </a:rPr>
              <a:t>El nicho: intersección completamente vacía</a:t>
            </a:r>
          </a:p>
        </p:txBody>
      </p:sp>
      <p:sp>
        <p:nvSpPr>
          <p:cNvPr id="11" name="C1"/>
          <p:cNvSpPr/>
          <p:nvPr/>
        </p:nvSpPr>
        <p:spPr>
          <a:xfrm>
            <a:off x="1772000" y="650000"/>
            <a:ext cx="2800000" cy="2800000"/>
          </a:xfrm>
          <a:prstGeom prst="ellipse">
            <a:avLst/>
          </a:prstGeom>
          <a:solidFill>
            <a:srgbClr val="8FD5E2">
              <a:alpha val="60000"/>
            </a:srgbClr>
          </a:solidFill>
          <a:ln>
            <a:solidFill>
              <a:schemeClr val="accent6"/>
            </a:solidFill>
            <a:prstDash val="dash"/>
          </a:ln>
        </p:spPr>
        <p:txBody>
          <a:bodyPr wrap="square" lIns="91440" tIns="182880" rIns="91440" bIns="91440" rtlCol="0" anchor="t"/>
          <a:lstStyle/>
          <a:p>
            <a:pPr algn="ctr">
              <a:buNone/>
            </a:pPr>
            <a:r>
              <a:rPr lang="es-ES" sz="1600" b="1" dirty="0">
                <a:solidFill>
                  <a:schemeClr val="dk2"/>
                </a:solidFill>
              </a:rPr>
              <a:t>HIPERLOCAL</a:t>
            </a:r>
          </a:p>
          <a:p>
            <a:pPr algn="ctr">
              <a:buNone/>
            </a:pPr>
            <a:r>
              <a:rPr lang="es-ES" sz="1200" dirty="0">
                <a:solidFill>
                  <a:schemeClr val="dk1"/>
                </a:solidFill>
              </a:rPr>
              <a:t>Nextdoor</a:t>
            </a:r>
          </a:p>
        </p:txBody>
      </p:sp>
      <p:sp>
        <p:nvSpPr>
          <p:cNvPr id="12" name="C2"/>
          <p:cNvSpPr/>
          <p:nvPr/>
        </p:nvSpPr>
        <p:spPr>
          <a:xfrm>
            <a:off x="4972000" y="650000"/>
            <a:ext cx="2800000" cy="2800000"/>
          </a:xfrm>
          <a:prstGeom prst="ellipse">
            <a:avLst/>
          </a:prstGeom>
          <a:solidFill>
            <a:srgbClr val="CAE1E4">
              <a:alpha val="60000"/>
            </a:srgbClr>
          </a:solidFill>
          <a:ln>
            <a:solidFill>
              <a:schemeClr val="accent6"/>
            </a:solidFill>
            <a:prstDash val="dash"/>
          </a:ln>
        </p:spPr>
        <p:txBody>
          <a:bodyPr wrap="square" lIns="91440" tIns="182880" rIns="91440" bIns="91440" rtlCol="0" anchor="t"/>
          <a:lstStyle/>
          <a:p>
            <a:pPr algn="ctr">
              <a:buNone/>
            </a:pPr>
            <a:r>
              <a:rPr lang="es-ES" sz="1600" b="1" dirty="0">
                <a:solidFill>
                  <a:schemeClr val="dk2"/>
                </a:solidFill>
              </a:rPr>
              <a:t>BANCO DE TIEMPO</a:t>
            </a:r>
          </a:p>
          <a:p>
            <a:pPr algn="ctr">
              <a:buNone/>
            </a:pPr>
            <a:r>
              <a:rPr lang="es-ES" sz="1200" dirty="0">
                <a:solidFill>
                  <a:schemeClr val="dk1"/>
                </a:solidFill>
              </a:rPr>
              <a:t>TimeOverflow · TimeRepublik</a:t>
            </a:r>
          </a:p>
        </p:txBody>
      </p:sp>
      <p:sp>
        <p:nvSpPr>
          <p:cNvPr id="13" name="C3"/>
          <p:cNvSpPr/>
          <p:nvPr/>
        </p:nvSpPr>
        <p:spPr>
          <a:xfrm>
            <a:off x="3372000" y="1650000"/>
            <a:ext cx="2800000" cy="2800000"/>
          </a:xfrm>
          <a:prstGeom prst="ellipse">
            <a:avLst/>
          </a:prstGeom>
          <a:solidFill>
            <a:srgbClr val="66A5BB">
              <a:alpha val="60000"/>
            </a:srgbClr>
          </a:solidFill>
          <a:ln>
            <a:solidFill>
              <a:schemeClr val="accent6"/>
            </a:solidFill>
            <a:prstDash val="dash"/>
          </a:ln>
        </p:spPr>
        <p:txBody>
          <a:bodyPr wrap="square" lIns="91440" tIns="91440" rIns="91440" bIns="182880" rtlCol="0" anchor="b"/>
          <a:lstStyle/>
          <a:p>
            <a:pPr algn="ctr">
              <a:buNone/>
            </a:pPr>
            <a:r>
              <a:rPr lang="es-ES" sz="1600" b="1" dirty="0">
                <a:solidFill>
                  <a:schemeClr val="dk2"/>
                </a:solidFill>
              </a:rPr>
              <a:t>ACCESIBILIDAD</a:t>
            </a:r>
          </a:p>
          <a:p>
            <a:pPr algn="ctr">
              <a:buNone/>
            </a:pPr>
            <a:r>
              <a:rPr lang="es-ES" sz="1200" dirty="0">
                <a:solidFill>
                  <a:schemeClr val="dk1"/>
                </a:solidFill>
              </a:rPr>
              <a:t>TTS + ARASAAC</a:t>
            </a:r>
          </a:p>
        </p:txBody>
      </p:sp>
      <p:sp>
        <p:nvSpPr>
          <p:cNvPr id="14" name="Center"/>
          <p:cNvSpPr/>
          <p:nvPr/>
        </p:nvSpPr>
        <p:spPr>
          <a:xfrm>
            <a:off x="3903606" y="1903066"/>
            <a:ext cx="1740394" cy="718684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s-ES" sz="2000" b="1" dirty="0">
                <a:solidFill>
                  <a:schemeClr val="lt1"/>
                </a:solidFill>
              </a:rPr>
              <a:t>VecindApp</a:t>
            </a:r>
          </a:p>
        </p:txBody>
      </p:sp>
      <p:sp>
        <p:nvSpPr>
          <p:cNvPr id="15" name="Foot"/>
          <p:cNvSpPr txBox="1"/>
          <p:nvPr/>
        </p:nvSpPr>
        <p:spPr>
          <a:xfrm>
            <a:off x="457200" y="4450000"/>
            <a:ext cx="8229600" cy="5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500" dirty="0">
                <a:solidFill>
                  <a:schemeClr val="dk1"/>
                </a:solidFill>
              </a:rPr>
              <a:t>Ninguna plataforma de banco de tiempo incorpora pictogramas o TTS. Ninguna app vecinal integra accesibilidad activa. </a:t>
            </a:r>
            <a:r>
              <a:rPr lang="es-ES" sz="1500" b="1" dirty="0">
                <a:solidFill>
                  <a:schemeClr val="accent6"/>
                </a:solidFill>
              </a:rPr>
              <a:t>VecindApp ocupa ese hueco con enfoque offline-first.</a:t>
            </a:r>
          </a:p>
        </p:txBody>
      </p:sp>
    </p:spTree>
    <p:extLst>
      <p:ext uri="{BB962C8B-B14F-4D97-AF65-F5344CB8AC3E}">
        <p14:creationId xmlns:p14="http://schemas.microsoft.com/office/powerpoint/2010/main" val="112774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643613A1-17D0-F893-6093-B570F0DF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E2DDAF-D507-8F64-0A3A-35A8DF1A65BD}"/>
              </a:ext>
            </a:extLst>
          </p:cNvPr>
          <p:cNvSpPr txBox="1"/>
          <p:nvPr/>
        </p:nvSpPr>
        <p:spPr>
          <a:xfrm>
            <a:off x="207819" y="143282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2800" b="1" dirty="0">
                <a:solidFill>
                  <a:schemeClr val="accent1">
                    <a:lumMod val="10000"/>
                  </a:schemeClr>
                </a:solidFill>
              </a:rPr>
              <a:t>3. Metodología: Scrum adaptado a solitario</a:t>
            </a:r>
          </a:p>
        </p:txBody>
      </p:sp>
      <p:sp>
        <p:nvSpPr>
          <p:cNvPr id="20" name="Left"/>
          <p:cNvSpPr/>
          <p:nvPr/>
        </p:nvSpPr>
        <p:spPr>
          <a:xfrm>
            <a:off x="457200" y="1100000"/>
            <a:ext cx="4000500" cy="34000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28600" bIns="228600" rtlCol="0" anchor="t"/>
          <a:lstStyle/>
          <a:p>
            <a:pPr>
              <a:buNone/>
            </a:pPr>
            <a:r>
              <a:rPr lang="es-ES" sz="1400" b="1" dirty="0">
                <a:solidFill>
                  <a:schemeClr val="accent6"/>
                </a:solidFill>
              </a:rPr>
              <a:t>ADAPTACIÓN DE SCRUM</a:t>
            </a:r>
          </a:p>
          <a:p>
            <a:pPr>
              <a:buNone/>
            </a:pPr>
            <a:r>
              <a:rPr lang="es-ES" sz="1400" b="1" dirty="0">
                <a:solidFill>
                  <a:schemeClr val="dk2"/>
                </a:solidFill>
              </a:rPr>
              <a:t>✓ Se conserva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solidFill>
                  <a:schemeClr val="dk1"/>
                </a:solidFill>
              </a:rPr>
              <a:t>Sprints de duración fija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solidFill>
                  <a:schemeClr val="dk1"/>
                </a:solidFill>
              </a:rPr>
              <a:t>Backlog priorizado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solidFill>
                  <a:schemeClr val="dk1"/>
                </a:solidFill>
              </a:rPr>
              <a:t>Seguimiento visual tipo Kanban</a:t>
            </a:r>
          </a:p>
          <a:p>
            <a:pPr>
              <a:buNone/>
            </a:pPr>
            <a:r>
              <a:rPr lang="es-ES" sz="1400" b="1" dirty="0">
                <a:solidFill>
                  <a:schemeClr val="dk2"/>
                </a:solidFill>
              </a:rPr>
              <a:t>✗ Se descarta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solidFill>
                  <a:schemeClr val="dk1"/>
                </a:solidFill>
              </a:rPr>
              <a:t>Daily (sin sentido en solitario)</a:t>
            </a:r>
          </a:p>
          <a:p>
            <a:pPr marL="228600" indent="-228600">
              <a:buFont typeface="Arial"/>
              <a:buChar char="•"/>
            </a:pPr>
            <a:r>
              <a:rPr lang="es-ES" sz="1400" dirty="0">
                <a:solidFill>
                  <a:schemeClr val="dk1"/>
                </a:solidFill>
              </a:rPr>
              <a:t>Retrospectiva en grupo</a:t>
            </a:r>
          </a:p>
        </p:txBody>
      </p:sp>
      <p:sp>
        <p:nvSpPr>
          <p:cNvPr id="21" name="Right"/>
          <p:cNvSpPr/>
          <p:nvPr/>
        </p:nvSpPr>
        <p:spPr>
          <a:xfrm>
            <a:off x="4686300" y="1100000"/>
            <a:ext cx="4000500" cy="34000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28600" bIns="228600" rtlCol="0" anchor="t"/>
          <a:lstStyle/>
          <a:p>
            <a:pPr>
              <a:buNone/>
            </a:pPr>
            <a:r>
              <a:rPr lang="es-ES" sz="1400" b="1" dirty="0">
                <a:solidFill>
                  <a:schemeClr val="accent6"/>
                </a:solidFill>
              </a:rPr>
              <a:t>ESTRUCTURA EN 5 FASES</a:t>
            </a:r>
          </a:p>
          <a:p>
            <a:pPr>
              <a:buNone/>
            </a:pPr>
            <a:r>
              <a:rPr lang="es-ES" sz="1500" b="1" dirty="0">
                <a:solidFill>
                  <a:schemeClr val="tx2">
                    <a:lumMod val="75000"/>
                  </a:schemeClr>
                </a:solidFill>
              </a:rPr>
              <a:t>1 · </a:t>
            </a:r>
            <a:r>
              <a:rPr lang="es-ES" sz="1500" dirty="0">
                <a:solidFill>
                  <a:schemeClr val="dk1"/>
                </a:solidFill>
              </a:rPr>
              <a:t>Análisis inicial y estado del arte</a:t>
            </a:r>
          </a:p>
          <a:p>
            <a:pPr>
              <a:buNone/>
            </a:pPr>
            <a:r>
              <a:rPr lang="es-ES" sz="1500" b="1" dirty="0">
                <a:solidFill>
                  <a:schemeClr val="tx2">
                    <a:lumMod val="75000"/>
                  </a:schemeClr>
                </a:solidFill>
              </a:rPr>
              <a:t>2 · </a:t>
            </a:r>
            <a:r>
              <a:rPr lang="es-ES" sz="1500" dirty="0">
                <a:solidFill>
                  <a:schemeClr val="dk1"/>
                </a:solidFill>
              </a:rPr>
              <a:t>Diseño de arquitectura y diagramas</a:t>
            </a:r>
          </a:p>
          <a:p>
            <a:pPr>
              <a:buNone/>
            </a:pPr>
            <a:r>
              <a:rPr lang="es-ES" sz="1500" b="1" dirty="0">
                <a:solidFill>
                  <a:schemeClr val="tx2">
                    <a:lumMod val="75000"/>
                  </a:schemeClr>
                </a:solidFill>
              </a:rPr>
              <a:t>3 · </a:t>
            </a:r>
            <a:r>
              <a:rPr lang="es-ES" sz="1500" dirty="0">
                <a:solidFill>
                  <a:schemeClr val="dk1"/>
                </a:solidFill>
              </a:rPr>
              <a:t>Diseño visual y prototipado</a:t>
            </a:r>
          </a:p>
          <a:p>
            <a:pPr>
              <a:buNone/>
            </a:pPr>
            <a:r>
              <a:rPr lang="es-ES" sz="1500" b="1" dirty="0">
                <a:solidFill>
                  <a:schemeClr val="tx2">
                    <a:lumMod val="75000"/>
                  </a:schemeClr>
                </a:solidFill>
              </a:rPr>
              <a:t>4 · </a:t>
            </a:r>
            <a:r>
              <a:rPr lang="es-ES" sz="1500" dirty="0">
                <a:solidFill>
                  <a:schemeClr val="dk1"/>
                </a:solidFill>
              </a:rPr>
              <a:t>Desarrollo por sprints (6 iteraciones)</a:t>
            </a:r>
          </a:p>
          <a:p>
            <a:pPr>
              <a:buNone/>
            </a:pPr>
            <a:r>
              <a:rPr lang="es-ES" sz="1500" b="1" dirty="0">
                <a:solidFill>
                  <a:schemeClr val="tx2">
                    <a:lumMod val="75000"/>
                  </a:schemeClr>
                </a:solidFill>
              </a:rPr>
              <a:t>5 · </a:t>
            </a:r>
            <a:r>
              <a:rPr lang="es-ES" sz="1500" dirty="0">
                <a:solidFill>
                  <a:schemeClr val="dk1"/>
                </a:solidFill>
              </a:rPr>
              <a:t>Documentación y presentación</a:t>
            </a:r>
          </a:p>
          <a:p>
            <a:pPr>
              <a:buNone/>
            </a:pPr>
            <a:r>
              <a:rPr lang="es-ES" sz="1300" i="1" dirty="0">
                <a:solidFill>
                  <a:schemeClr val="accent6"/>
                </a:solidFill>
              </a:rPr>
              <a:t>MVP: login, escaparate, transacciones, valoraciones con TTS.</a:t>
            </a:r>
          </a:p>
        </p:txBody>
      </p:sp>
      <p:sp>
        <p:nvSpPr>
          <p:cNvPr id="22" name="Foot"/>
          <p:cNvSpPr txBox="1"/>
          <p:nvPr/>
        </p:nvSpPr>
        <p:spPr>
          <a:xfrm>
            <a:off x="457200" y="4600000"/>
            <a:ext cx="82296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400" b="1" dirty="0">
                <a:solidFill>
                  <a:schemeClr val="dk1"/>
                </a:solidFill>
              </a:rPr>
              <a:t>Tablero Kanban:</a:t>
            </a:r>
            <a:r>
              <a:rPr lang="es-ES" sz="1400" dirty="0">
                <a:solidFill>
                  <a:schemeClr val="dk1"/>
                </a:solidFill>
              </a:rPr>
              <a:t>  Pendiente → En curso → Hecho</a:t>
            </a:r>
          </a:p>
        </p:txBody>
      </p:sp>
    </p:spTree>
    <p:extLst>
      <p:ext uri="{BB962C8B-B14F-4D97-AF65-F5344CB8AC3E}">
        <p14:creationId xmlns:p14="http://schemas.microsoft.com/office/powerpoint/2010/main" val="2606430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48705526-90CB-A90F-2103-ECB3906E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B887CA-E871-A2BF-06EF-47DD83F271BF}"/>
              </a:ext>
            </a:extLst>
          </p:cNvPr>
          <p:cNvSpPr txBox="1"/>
          <p:nvPr/>
        </p:nvSpPr>
        <p:spPr>
          <a:xfrm>
            <a:off x="207819" y="143282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3200" b="1" dirty="0">
                <a:solidFill>
                  <a:schemeClr val="accent1">
                    <a:lumMod val="10000"/>
                  </a:schemeClr>
                </a:solidFill>
              </a:rPr>
              <a:t>4. Stack tecnológico</a:t>
            </a:r>
          </a:p>
        </p:txBody>
      </p:sp>
      <p:sp>
        <p:nvSpPr>
          <p:cNvPr id="30" name="Tech"/>
          <p:cNvSpPr/>
          <p:nvPr/>
        </p:nvSpPr>
        <p:spPr>
          <a:xfrm>
            <a:off x="495300" y="1000000"/>
            <a:ext cx="1981200" cy="15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200" b="1" dirty="0">
                <a:solidFill>
                  <a:schemeClr val="accent6"/>
                </a:solidFill>
              </a:rPr>
              <a:t>LENGUAJE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dk2"/>
                </a:solidFill>
              </a:rPr>
              <a:t>Kotlin 2.0.21</a:t>
            </a:r>
          </a:p>
          <a:p>
            <a:pPr algn="l">
              <a:buNone/>
            </a:pPr>
            <a:r>
              <a:rPr lang="es-ES" sz="1200" dirty="0">
                <a:solidFill>
                  <a:schemeClr val="dk1"/>
                </a:solidFill>
              </a:rPr>
              <a:t>Recomendado oficialmente por Google</a:t>
            </a:r>
          </a:p>
        </p:txBody>
      </p:sp>
      <p:sp>
        <p:nvSpPr>
          <p:cNvPr id="31" name="Tech"/>
          <p:cNvSpPr/>
          <p:nvPr/>
        </p:nvSpPr>
        <p:spPr>
          <a:xfrm>
            <a:off x="2552700" y="1000000"/>
            <a:ext cx="1981200" cy="15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200" b="1" dirty="0">
                <a:solidFill>
                  <a:schemeClr val="accent6"/>
                </a:solidFill>
              </a:rPr>
              <a:t>UI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dk2"/>
                </a:solidFill>
              </a:rPr>
              <a:t>XML + Fragments</a:t>
            </a:r>
          </a:p>
          <a:p>
            <a:pPr algn="l">
              <a:buNone/>
            </a:pPr>
            <a:r>
              <a:rPr lang="es-ES" sz="1200" dirty="0">
                <a:solidFill>
                  <a:schemeClr val="dk1"/>
                </a:solidFill>
              </a:rPr>
              <a:t>No Jetpack Compose (según propuesta)</a:t>
            </a:r>
          </a:p>
        </p:txBody>
      </p:sp>
      <p:sp>
        <p:nvSpPr>
          <p:cNvPr id="32" name="Tech"/>
          <p:cNvSpPr/>
          <p:nvPr/>
        </p:nvSpPr>
        <p:spPr>
          <a:xfrm>
            <a:off x="4610100" y="1000000"/>
            <a:ext cx="1981200" cy="15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200" b="1" dirty="0">
                <a:solidFill>
                  <a:schemeClr val="accent6"/>
                </a:solidFill>
              </a:rPr>
              <a:t>BASE DE DATOS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dk2"/>
                </a:solidFill>
              </a:rPr>
              <a:t>Room 2.8.4 · SQLite</a:t>
            </a:r>
          </a:p>
          <a:p>
            <a:pPr algn="l">
              <a:buNone/>
            </a:pPr>
            <a:r>
              <a:rPr lang="es-ES" sz="1200" dirty="0">
                <a:solidFill>
                  <a:schemeClr val="dk1"/>
                </a:solidFill>
              </a:rPr>
              <a:t>Filosofía offline-first</a:t>
            </a:r>
          </a:p>
        </p:txBody>
      </p:sp>
      <p:sp>
        <p:nvSpPr>
          <p:cNvPr id="33" name="Tech"/>
          <p:cNvSpPr/>
          <p:nvPr/>
        </p:nvSpPr>
        <p:spPr>
          <a:xfrm>
            <a:off x="6667500" y="1000000"/>
            <a:ext cx="1981200" cy="15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200" b="1" dirty="0">
                <a:solidFill>
                  <a:schemeClr val="accent6"/>
                </a:solidFill>
              </a:rPr>
              <a:t>ARQUITECTURA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dk2"/>
                </a:solidFill>
              </a:rPr>
              <a:t>MVVM + Clean</a:t>
            </a:r>
          </a:p>
          <a:p>
            <a:pPr algn="l">
              <a:buNone/>
            </a:pPr>
            <a:r>
              <a:rPr lang="es-ES" sz="1200" dirty="0">
                <a:solidFill>
                  <a:schemeClr val="dk1"/>
                </a:solidFill>
              </a:rPr>
              <a:t>4 capas: data · domain · ui · common</a:t>
            </a:r>
          </a:p>
        </p:txBody>
      </p:sp>
      <p:sp>
        <p:nvSpPr>
          <p:cNvPr id="34" name="Tech"/>
          <p:cNvSpPr/>
          <p:nvPr/>
        </p:nvSpPr>
        <p:spPr>
          <a:xfrm>
            <a:off x="495300" y="2620000"/>
            <a:ext cx="1981200" cy="15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200" b="1" dirty="0">
                <a:solidFill>
                  <a:schemeClr val="accent6"/>
                </a:solidFill>
              </a:rPr>
              <a:t>NAVEGACIÓN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dk2"/>
                </a:solidFill>
              </a:rPr>
              <a:t>Navigation 2.9.7</a:t>
            </a:r>
          </a:p>
          <a:p>
            <a:pPr algn="l">
              <a:buNone/>
            </a:pPr>
            <a:r>
              <a:rPr lang="es-ES" sz="1200" dirty="0">
                <a:solidFill>
                  <a:schemeClr val="dk1"/>
                </a:solidFill>
              </a:rPr>
              <a:t>BottomNav de 4 pestañas</a:t>
            </a:r>
          </a:p>
        </p:txBody>
      </p:sp>
      <p:sp>
        <p:nvSpPr>
          <p:cNvPr id="35" name="Tech"/>
          <p:cNvSpPr/>
          <p:nvPr/>
        </p:nvSpPr>
        <p:spPr>
          <a:xfrm>
            <a:off x="2552700" y="2620000"/>
            <a:ext cx="1981200" cy="15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200" b="1" dirty="0">
                <a:solidFill>
                  <a:schemeClr val="accent6"/>
                </a:solidFill>
              </a:rPr>
              <a:t>ASÍNCRONO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dk2"/>
                </a:solidFill>
              </a:rPr>
              <a:t>Coroutines + StateFlow</a:t>
            </a:r>
          </a:p>
          <a:p>
            <a:pPr algn="l">
              <a:buNone/>
            </a:pPr>
            <a:r>
              <a:rPr lang="es-ES" sz="1200" dirty="0">
                <a:solidFill>
                  <a:schemeClr val="dk1"/>
                </a:solidFill>
              </a:rPr>
              <a:t>Programación reactiva</a:t>
            </a:r>
          </a:p>
        </p:txBody>
      </p:sp>
      <p:sp>
        <p:nvSpPr>
          <p:cNvPr id="36" name="Tech"/>
          <p:cNvSpPr/>
          <p:nvPr/>
        </p:nvSpPr>
        <p:spPr>
          <a:xfrm>
            <a:off x="4610100" y="2620000"/>
            <a:ext cx="1981200" cy="15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200" b="1" dirty="0">
                <a:solidFill>
                  <a:schemeClr val="accent6"/>
                </a:solidFill>
              </a:rPr>
              <a:t>GRÁFICOS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dk2"/>
                </a:solidFill>
              </a:rPr>
              <a:t>MPAndroidChart 3.1.0</a:t>
            </a:r>
          </a:p>
          <a:p>
            <a:pPr algn="l">
              <a:buNone/>
            </a:pPr>
            <a:r>
              <a:rPr lang="es-ES" sz="1200" dirty="0">
                <a:solidFill>
                  <a:schemeClr val="dk1"/>
                </a:solidFill>
              </a:rPr>
              <a:t>Librería terceros justificada</a:t>
            </a:r>
          </a:p>
        </p:txBody>
      </p:sp>
      <p:sp>
        <p:nvSpPr>
          <p:cNvPr id="37" name="Tech"/>
          <p:cNvSpPr/>
          <p:nvPr/>
        </p:nvSpPr>
        <p:spPr>
          <a:xfrm>
            <a:off x="6667500" y="2620000"/>
            <a:ext cx="1981200" cy="15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 algn="l">
              <a:buNone/>
            </a:pPr>
            <a:r>
              <a:rPr lang="es-ES" sz="1200" b="1" dirty="0">
                <a:solidFill>
                  <a:schemeClr val="accent6"/>
                </a:solidFill>
              </a:rPr>
              <a:t>ACCESIBILIDAD</a:t>
            </a:r>
          </a:p>
          <a:p>
            <a:pPr algn="l">
              <a:buNone/>
            </a:pPr>
            <a:r>
              <a:rPr lang="es-ES" sz="1500" b="1" dirty="0">
                <a:solidFill>
                  <a:schemeClr val="dk2"/>
                </a:solidFill>
              </a:rPr>
              <a:t>Android TTS + ARASAAC</a:t>
            </a:r>
          </a:p>
          <a:p>
            <a:pPr algn="l">
              <a:buNone/>
            </a:pPr>
            <a:r>
              <a:rPr lang="es-ES" sz="1200" dirty="0">
                <a:solidFill>
                  <a:schemeClr val="dk1"/>
                </a:solidFill>
              </a:rPr>
              <a:t>Material Design 1.12.0</a:t>
            </a:r>
          </a:p>
        </p:txBody>
      </p:sp>
      <p:sp>
        <p:nvSpPr>
          <p:cNvPr id="90" name="Foot"/>
          <p:cNvSpPr txBox="1"/>
          <p:nvPr/>
        </p:nvSpPr>
        <p:spPr>
          <a:xfrm>
            <a:off x="457200" y="4400000"/>
            <a:ext cx="82296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500" b="1" dirty="0">
                <a:solidFill>
                  <a:schemeClr val="accent6"/>
                </a:solidFill>
              </a:rPr>
              <a:t>Compatible con Android 8.0+ → cubre &gt;95 % del parque de dispositivos activos</a:t>
            </a:r>
          </a:p>
        </p:txBody>
      </p:sp>
    </p:spTree>
    <p:extLst>
      <p:ext uri="{BB962C8B-B14F-4D97-AF65-F5344CB8AC3E}">
        <p14:creationId xmlns:p14="http://schemas.microsoft.com/office/powerpoint/2010/main" val="3810432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9CFCD1E-E5B7-B7D7-6671-9A2C1ADAED11}"/>
              </a:ext>
            </a:extLst>
          </p:cNvPr>
          <p:cNvSpPr txBox="1"/>
          <p:nvPr/>
        </p:nvSpPr>
        <p:spPr>
          <a:xfrm>
            <a:off x="221673" y="143282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3200" b="1" dirty="0">
                <a:solidFill>
                  <a:schemeClr val="accent1">
                    <a:lumMod val="10000"/>
                  </a:schemeClr>
                </a:solidFill>
              </a:rPr>
              <a:t>5. Planificación y DAFO</a:t>
            </a:r>
          </a:p>
        </p:txBody>
      </p:sp>
      <p:sp>
        <p:nvSpPr>
          <p:cNvPr id="20" name="Desv"/>
          <p:cNvSpPr/>
          <p:nvPr/>
        </p:nvSpPr>
        <p:spPr>
          <a:xfrm>
            <a:off x="457200" y="1100000"/>
            <a:ext cx="3200000" cy="34000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ESTIMADO vs. REAL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Sprint de arquitectura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+ tiempo: aprender MVVM + Clean a fondo costó más de lo estimado.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Sprint 6 reducido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Se priorizaron notificaciones reactivas frente al WorkManager.</a:t>
            </a:r>
          </a:p>
        </p:txBody>
      </p:sp>
      <p:sp>
        <p:nvSpPr>
          <p:cNvPr id="40" name="DAFO"/>
          <p:cNvSpPr/>
          <p:nvPr/>
        </p:nvSpPr>
        <p:spPr>
          <a:xfrm>
            <a:off x="3900000" y="1100000"/>
            <a:ext cx="2300000" cy="165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200" b="1" dirty="0">
                <a:solidFill>
                  <a:schemeClr val="accent6"/>
                </a:solidFill>
              </a:rPr>
              <a:t>FORTALEZAS</a:t>
            </a:r>
          </a:p>
          <a:p>
            <a:pPr marL="182880" indent="-182880">
              <a:buFont typeface="Arial"/>
              <a:buChar char="•"/>
            </a:pPr>
            <a:r>
              <a:rPr lang="es-ES" sz="1200" dirty="0">
                <a:solidFill>
                  <a:schemeClr val="dk1"/>
                </a:solidFill>
              </a:rPr>
              <a:t>Enfoque innovador: accesibilidad + banco de tiempo</a:t>
            </a:r>
          </a:p>
          <a:p>
            <a:pPr marL="182880" indent="-182880">
              <a:buFont typeface="Arial"/>
              <a:buChar char="•"/>
            </a:pPr>
            <a:r>
              <a:rPr lang="es-ES" sz="1200" dirty="0">
                <a:solidFill>
                  <a:schemeClr val="dk1"/>
                </a:solidFill>
              </a:rPr>
              <a:t>Arquitectura escalable</a:t>
            </a:r>
          </a:p>
        </p:txBody>
      </p:sp>
      <p:sp>
        <p:nvSpPr>
          <p:cNvPr id="41" name="DAFO"/>
          <p:cNvSpPr/>
          <p:nvPr/>
        </p:nvSpPr>
        <p:spPr>
          <a:xfrm>
            <a:off x="6200000" y="1100000"/>
            <a:ext cx="2300000" cy="165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200" b="1" dirty="0">
                <a:solidFill>
                  <a:schemeClr val="accent6"/>
                </a:solidFill>
              </a:rPr>
              <a:t>DEBILIDADES</a:t>
            </a:r>
          </a:p>
          <a:p>
            <a:pPr marL="182880" indent="-182880">
              <a:buFont typeface="Arial"/>
              <a:buChar char="•"/>
            </a:pPr>
            <a:r>
              <a:rPr lang="es-ES" sz="1200" dirty="0">
                <a:solidFill>
                  <a:schemeClr val="dk1"/>
                </a:solidFill>
              </a:rPr>
              <a:t>Ausencia de backend</a:t>
            </a:r>
          </a:p>
          <a:p>
            <a:pPr marL="182880" indent="-182880">
              <a:buFont typeface="Arial"/>
              <a:buChar char="•"/>
            </a:pPr>
            <a:r>
              <a:rPr lang="es-ES" sz="1200" dirty="0">
                <a:solidFill>
                  <a:schemeClr val="dk1"/>
                </a:solidFill>
              </a:rPr>
              <a:t>Sin sincronización entre dispositivos</a:t>
            </a:r>
          </a:p>
        </p:txBody>
      </p:sp>
      <p:sp>
        <p:nvSpPr>
          <p:cNvPr id="42" name="DAFO"/>
          <p:cNvSpPr/>
          <p:nvPr/>
        </p:nvSpPr>
        <p:spPr>
          <a:xfrm>
            <a:off x="3900000" y="2800000"/>
            <a:ext cx="2300000" cy="165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200" b="1" dirty="0">
                <a:solidFill>
                  <a:schemeClr val="accent6"/>
                </a:solidFill>
              </a:rPr>
              <a:t>OPORTUNIDADES</a:t>
            </a:r>
          </a:p>
          <a:p>
            <a:pPr marL="182880" indent="-182880">
              <a:buFont typeface="Arial"/>
              <a:buChar char="•"/>
            </a:pPr>
            <a:r>
              <a:rPr lang="es-ES" sz="1200" dirty="0">
                <a:solidFill>
                  <a:schemeClr val="dk1"/>
                </a:solidFill>
              </a:rPr>
              <a:t>Acta Europea de Accesibilidad</a:t>
            </a:r>
          </a:p>
          <a:p>
            <a:pPr marL="182880" indent="-182880">
              <a:buFont typeface="Arial"/>
              <a:buChar char="•"/>
            </a:pPr>
            <a:r>
              <a:rPr lang="es-ES" sz="1200" dirty="0">
                <a:solidFill>
                  <a:schemeClr val="dk1"/>
                </a:solidFill>
              </a:rPr>
              <a:t>WCAG 2.2 AA obligatorias</a:t>
            </a:r>
          </a:p>
        </p:txBody>
      </p:sp>
      <p:sp>
        <p:nvSpPr>
          <p:cNvPr id="43" name="DAFO"/>
          <p:cNvSpPr/>
          <p:nvPr/>
        </p:nvSpPr>
        <p:spPr>
          <a:xfrm>
            <a:off x="6200000" y="2800000"/>
            <a:ext cx="2300000" cy="165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200" b="1" dirty="0">
                <a:solidFill>
                  <a:schemeClr val="accent6"/>
                </a:solidFill>
              </a:rPr>
              <a:t>AMENAZAS</a:t>
            </a:r>
          </a:p>
          <a:p>
            <a:pPr marL="182880" indent="-182880">
              <a:buFont typeface="Arial"/>
              <a:buChar char="•"/>
            </a:pPr>
            <a:r>
              <a:rPr lang="es-ES" sz="1200" dirty="0">
                <a:solidFill>
                  <a:schemeClr val="dk1"/>
                </a:solidFill>
              </a:rPr>
              <a:t>Que Nextdoor incorpore esta funcionalidad</a:t>
            </a:r>
          </a:p>
        </p:txBody>
      </p:sp>
      <p:sp>
        <p:nvSpPr>
          <p:cNvPr id="99" name="DafoLabel"/>
          <p:cNvSpPr txBox="1"/>
          <p:nvPr/>
        </p:nvSpPr>
        <p:spPr>
          <a:xfrm>
            <a:off x="3900000" y="4550000"/>
            <a:ext cx="4600000" cy="3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200" i="1" dirty="0">
                <a:solidFill>
                  <a:schemeClr val="accent6"/>
                </a:solidFill>
              </a:rPr>
              <a:t>DAFO (destacados)</a:t>
            </a:r>
          </a:p>
        </p:txBody>
      </p:sp>
    </p:spTree>
    <p:extLst>
      <p:ext uri="{BB962C8B-B14F-4D97-AF65-F5344CB8AC3E}">
        <p14:creationId xmlns:p14="http://schemas.microsoft.com/office/powerpoint/2010/main" val="295770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60D58-9E58-F393-FFF0-C353012F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DF4E23-5855-C53C-DBF6-553D9E9258C5}"/>
              </a:ext>
            </a:extLst>
          </p:cNvPr>
          <p:cNvSpPr txBox="1"/>
          <p:nvPr/>
        </p:nvSpPr>
        <p:spPr>
          <a:xfrm>
            <a:off x="221673" y="143282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3200" b="1" dirty="0">
                <a:solidFill>
                  <a:schemeClr val="accent1">
                    <a:lumMod val="10000"/>
                  </a:schemeClr>
                </a:solidFill>
              </a:rPr>
              <a:t>6. Análisis: casos de uso</a:t>
            </a:r>
          </a:p>
        </p:txBody>
      </p:sp>
      <p:sp>
        <p:nvSpPr>
          <p:cNvPr id="20" name="Actor"/>
          <p:cNvSpPr/>
          <p:nvPr/>
        </p:nvSpPr>
        <p:spPr>
          <a:xfrm>
            <a:off x="457200" y="1100000"/>
            <a:ext cx="3400000" cy="15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ctr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ACTOR</a:t>
            </a:r>
          </a:p>
          <a:p>
            <a:pPr>
              <a:buNone/>
            </a:pPr>
            <a:r>
              <a:rPr lang="es-ES" sz="2400" b="1" dirty="0">
                <a:solidFill>
                  <a:schemeClr val="dk2"/>
                </a:solidFill>
              </a:rPr>
              <a:t>Vecino</a:t>
            </a:r>
          </a:p>
          <a:p>
            <a:pPr>
              <a:buNone/>
            </a:pPr>
            <a:r>
              <a:rPr lang="es-ES" sz="1400" dirty="0">
                <a:solidFill>
                  <a:schemeClr val="dk1"/>
                </a:solidFill>
              </a:rPr>
              <a:t>2 roles según contexto:</a:t>
            </a:r>
          </a:p>
          <a:p>
            <a:pPr>
              <a:buNone/>
            </a:pPr>
            <a:r>
              <a:rPr lang="es-ES" sz="1400" b="1" dirty="0">
                <a:solidFill>
                  <a:schemeClr val="dk1"/>
                </a:solidFill>
              </a:rPr>
              <a:t>Comprador</a:t>
            </a:r>
            <a:r>
              <a:rPr lang="es-ES" sz="1400" dirty="0">
                <a:solidFill>
                  <a:schemeClr val="dk1"/>
                </a:solidFill>
              </a:rPr>
              <a:t> (gasta horas) · </a:t>
            </a:r>
            <a:r>
              <a:rPr lang="es-ES" sz="1400" b="1" dirty="0">
                <a:solidFill>
                  <a:schemeClr val="dk1"/>
                </a:solidFill>
              </a:rPr>
              <a:t>Vendedor</a:t>
            </a:r>
            <a:r>
              <a:rPr lang="es-ES" sz="1400" dirty="0">
                <a:solidFill>
                  <a:schemeClr val="dk1"/>
                </a:solidFill>
              </a:rPr>
              <a:t> (gana horas)</a:t>
            </a:r>
          </a:p>
        </p:txBody>
      </p:sp>
      <p:sp>
        <p:nvSpPr>
          <p:cNvPr id="21" name="Count"/>
          <p:cNvSpPr/>
          <p:nvPr/>
        </p:nvSpPr>
        <p:spPr>
          <a:xfrm>
            <a:off x="4100000" y="1100000"/>
            <a:ext cx="1700000" cy="150000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s-ES" sz="6000" b="1" dirty="0">
                <a:solidFill>
                  <a:schemeClr val="lt1"/>
                </a:solidFill>
              </a:rPr>
              <a:t>12</a:t>
            </a:r>
          </a:p>
          <a:p>
            <a:pPr algn="ctr">
              <a:buNone/>
            </a:pPr>
            <a:r>
              <a:rPr lang="es-ES" sz="1400" b="1" dirty="0">
                <a:solidFill>
                  <a:schemeClr val="lt1"/>
                </a:solidFill>
              </a:rPr>
              <a:t>casos de uso</a:t>
            </a:r>
          </a:p>
        </p:txBody>
      </p:sp>
      <p:sp>
        <p:nvSpPr>
          <p:cNvPr id="22" name="Rel1"/>
          <p:cNvSpPr/>
          <p:nvPr/>
        </p:nvSpPr>
        <p:spPr>
          <a:xfrm>
            <a:off x="6000000" y="1100000"/>
            <a:ext cx="2700000" cy="150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152400" rIns="182880" bIns="152400" rtlCol="0" anchor="ctr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3 RELACIONES CLAVE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Permiten reutilizar comportamientos comunes y extender funcionalidad.</a:t>
            </a:r>
          </a:p>
        </p:txBody>
      </p:sp>
      <p:sp>
        <p:nvSpPr>
          <p:cNvPr id="30" name="R1"/>
          <p:cNvSpPr/>
          <p:nvPr/>
        </p:nvSpPr>
        <p:spPr>
          <a:xfrm>
            <a:off x="457200" y="2800000"/>
            <a:ext cx="2650000" cy="17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&lt;&lt;extend&gt;&gt;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CU-05 (TTS)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Extiende las pantallas de escaparate, detalle, valoración y perfil. Activación opcional.</a:t>
            </a:r>
          </a:p>
        </p:txBody>
      </p:sp>
      <p:sp>
        <p:nvSpPr>
          <p:cNvPr id="31" name="R2"/>
          <p:cNvSpPr/>
          <p:nvPr/>
        </p:nvSpPr>
        <p:spPr>
          <a:xfrm>
            <a:off x="3247200" y="2800000"/>
            <a:ext cx="2650000" cy="170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&lt;&lt;extend&gt;&gt;</a:t>
            </a:r>
          </a:p>
          <a:p>
            <a:pPr>
              <a:buNone/>
            </a:pPr>
            <a:r>
              <a:rPr lang="es-ES" sz="1500" b="1" dirty="0">
                <a:solidFill>
                  <a:schemeClr val="tx2">
                    <a:lumMod val="75000"/>
                  </a:schemeClr>
                </a:solidFill>
              </a:rPr>
              <a:t>CU-11 → CU-10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Valorar con ARASAAC extiende «completar transacción». Regla unidireccional: solo el comprador valora.</a:t>
            </a:r>
          </a:p>
        </p:txBody>
      </p:sp>
      <p:sp>
        <p:nvSpPr>
          <p:cNvPr id="32" name="R3"/>
          <p:cNvSpPr/>
          <p:nvPr/>
        </p:nvSpPr>
        <p:spPr>
          <a:xfrm>
            <a:off x="6037200" y="2800000"/>
            <a:ext cx="2650000" cy="17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&lt;&lt;include&gt;&gt;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Validación de saldo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Obligatoria en CU-10 (completar) y compartida con CU-09 (solicitar servicio).</a:t>
            </a:r>
          </a:p>
        </p:txBody>
      </p:sp>
    </p:spTree>
    <p:extLst>
      <p:ext uri="{BB962C8B-B14F-4D97-AF65-F5344CB8AC3E}">
        <p14:creationId xmlns:p14="http://schemas.microsoft.com/office/powerpoint/2010/main" val="294287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400000"/>
            <a:ext cx="8229600" cy="50000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rtlCol="0" anchor="t"/>
          <a:lstStyle/>
          <a:p>
            <a:pPr>
              <a:buNone/>
            </a:pPr>
            <a:r>
              <a:rPr lang="es-ES" sz="3000" b="1" dirty="0">
                <a:solidFill>
                  <a:schemeClr val="dk2"/>
                </a:solidFill>
              </a:rPr>
              <a:t>Modelo de datos: 4 entidades con Room</a:t>
            </a:r>
          </a:p>
        </p:txBody>
      </p:sp>
      <p:sp>
        <p:nvSpPr>
          <p:cNvPr id="20" name="Head"/>
          <p:cNvSpPr/>
          <p:nvPr/>
        </p:nvSpPr>
        <p:spPr>
          <a:xfrm>
            <a:off x="135427" y="1100000"/>
            <a:ext cx="2050000" cy="45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s-ES" sz="1700" b="1" dirty="0">
                <a:solidFill>
                  <a:schemeClr val="lt1"/>
                </a:solidFill>
              </a:rPr>
              <a:t>Usuario</a:t>
            </a:r>
          </a:p>
        </p:txBody>
      </p:sp>
      <p:sp>
        <p:nvSpPr>
          <p:cNvPr id="21" name="Body"/>
          <p:cNvSpPr/>
          <p:nvPr/>
        </p:nvSpPr>
        <p:spPr>
          <a:xfrm>
            <a:off x="135427" y="1550000"/>
            <a:ext cx="2050000" cy="1900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182880" tIns="182880" rIns="182880" bIns="91440" rtlCol="0" anchor="t"/>
          <a:lstStyle/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id (PK)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nombre único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saldo (horas)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barrio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avatar</a:t>
            </a:r>
          </a:p>
        </p:txBody>
      </p:sp>
      <p:sp>
        <p:nvSpPr>
          <p:cNvPr id="22" name="Arr"/>
          <p:cNvSpPr/>
          <p:nvPr/>
        </p:nvSpPr>
        <p:spPr>
          <a:xfrm>
            <a:off x="2226754" y="2090000"/>
            <a:ext cx="147800" cy="34000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Head"/>
          <p:cNvSpPr/>
          <p:nvPr/>
        </p:nvSpPr>
        <p:spPr>
          <a:xfrm>
            <a:off x="2415882" y="1100000"/>
            <a:ext cx="2050000" cy="45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s-ES" sz="1700" b="1" dirty="0">
                <a:solidFill>
                  <a:schemeClr val="lt1"/>
                </a:solidFill>
              </a:rPr>
              <a:t>Servicio</a:t>
            </a:r>
          </a:p>
        </p:txBody>
      </p:sp>
      <p:sp>
        <p:nvSpPr>
          <p:cNvPr id="24" name="Body"/>
          <p:cNvSpPr/>
          <p:nvPr/>
        </p:nvSpPr>
        <p:spPr>
          <a:xfrm>
            <a:off x="2415882" y="1550000"/>
            <a:ext cx="2050000" cy="1900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182880" tIns="182880" rIns="182880" bIns="91440" rtlCol="0" anchor="t"/>
          <a:lstStyle/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id (PK)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usuarioId (FK)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título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categoría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coste (h)</a:t>
            </a:r>
          </a:p>
        </p:txBody>
      </p:sp>
      <p:sp>
        <p:nvSpPr>
          <p:cNvPr id="25" name="Arr"/>
          <p:cNvSpPr/>
          <p:nvPr/>
        </p:nvSpPr>
        <p:spPr>
          <a:xfrm>
            <a:off x="4532101" y="2090000"/>
            <a:ext cx="136337" cy="34000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Head"/>
          <p:cNvSpPr/>
          <p:nvPr/>
        </p:nvSpPr>
        <p:spPr>
          <a:xfrm>
            <a:off x="4720337" y="1100000"/>
            <a:ext cx="2050000" cy="45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s-ES" sz="1700" b="1" dirty="0">
                <a:solidFill>
                  <a:schemeClr val="lt1"/>
                </a:solidFill>
              </a:rPr>
              <a:t>Transacción</a:t>
            </a:r>
          </a:p>
        </p:txBody>
      </p:sp>
      <p:sp>
        <p:nvSpPr>
          <p:cNvPr id="27" name="Body"/>
          <p:cNvSpPr/>
          <p:nvPr/>
        </p:nvSpPr>
        <p:spPr>
          <a:xfrm>
            <a:off x="4720337" y="1550000"/>
            <a:ext cx="2050000" cy="1900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182880" tIns="182880" rIns="182880" bIns="91440" rtlCol="0" anchor="t"/>
          <a:lstStyle/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id (PK)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servicioId (FK)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compradorId (FK)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estado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fecha</a:t>
            </a:r>
          </a:p>
        </p:txBody>
      </p:sp>
      <p:sp>
        <p:nvSpPr>
          <p:cNvPr id="28" name="Arr"/>
          <p:cNvSpPr/>
          <p:nvPr/>
        </p:nvSpPr>
        <p:spPr>
          <a:xfrm>
            <a:off x="6807200" y="2090000"/>
            <a:ext cx="134937" cy="34000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Head"/>
          <p:cNvSpPr/>
          <p:nvPr/>
        </p:nvSpPr>
        <p:spPr>
          <a:xfrm>
            <a:off x="6958573" y="1100000"/>
            <a:ext cx="2050000" cy="45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s-ES" sz="1700" b="1" dirty="0">
                <a:solidFill>
                  <a:schemeClr val="lt1"/>
                </a:solidFill>
              </a:rPr>
              <a:t>Valoración</a:t>
            </a:r>
          </a:p>
        </p:txBody>
      </p:sp>
      <p:sp>
        <p:nvSpPr>
          <p:cNvPr id="30" name="Body"/>
          <p:cNvSpPr/>
          <p:nvPr/>
        </p:nvSpPr>
        <p:spPr>
          <a:xfrm>
            <a:off x="6958573" y="1550000"/>
            <a:ext cx="2050000" cy="1900000"/>
          </a:xfrm>
          <a:prstGeom prst="rect">
            <a:avLst/>
          </a:prstGeom>
          <a:solidFill>
            <a:schemeClr val="lt1"/>
          </a:solidFill>
          <a:ln w="12700">
            <a:solidFill>
              <a:schemeClr val="accent6"/>
            </a:solidFill>
          </a:ln>
        </p:spPr>
        <p:txBody>
          <a:bodyPr wrap="square" lIns="182880" tIns="182880" rIns="182880" bIns="91440" rtlCol="0" anchor="t"/>
          <a:lstStyle/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id (PK)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transaccionId (FK)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pictogramas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comentario</a:t>
            </a:r>
          </a:p>
        </p:txBody>
      </p:sp>
      <p:sp>
        <p:nvSpPr>
          <p:cNvPr id="99" name="Foot"/>
          <p:cNvSpPr txBox="1"/>
          <p:nvPr/>
        </p:nvSpPr>
        <p:spPr>
          <a:xfrm>
            <a:off x="457200" y="4500000"/>
            <a:ext cx="82296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400" dirty="0">
                <a:solidFill>
                  <a:schemeClr val="dk1"/>
                </a:solidFill>
              </a:rPr>
              <a:t>Relaciones con claves foráneas · Valoración </a:t>
            </a:r>
            <a:r>
              <a:rPr lang="es-ES" sz="1400" b="1" dirty="0">
                <a:solidFill>
                  <a:schemeClr val="accent6"/>
                </a:solidFill>
              </a:rPr>
              <a:t>unidireccional</a:t>
            </a:r>
            <a:r>
              <a:rPr lang="es-ES" sz="1400" dirty="0">
                <a:solidFill>
                  <a:schemeClr val="dk1"/>
                </a:solidFill>
              </a:rPr>
              <a:t> del comprador al vendedor</a:t>
            </a:r>
          </a:p>
        </p:txBody>
      </p:sp>
    </p:spTree>
    <p:extLst>
      <p:ext uri="{BB962C8B-B14F-4D97-AF65-F5344CB8AC3E}">
        <p14:creationId xmlns:p14="http://schemas.microsoft.com/office/powerpoint/2010/main" val="462593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E758-94FB-B78A-EAA1-77E421AA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EBC7CD-9F38-0FE4-AE2F-F80A1570362E}"/>
              </a:ext>
            </a:extLst>
          </p:cNvPr>
          <p:cNvSpPr txBox="1"/>
          <p:nvPr/>
        </p:nvSpPr>
        <p:spPr>
          <a:xfrm>
            <a:off x="221673" y="143282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3200" b="1" dirty="0">
                <a:solidFill>
                  <a:schemeClr val="accent1">
                    <a:lumMod val="10000"/>
                  </a:schemeClr>
                </a:solidFill>
              </a:rPr>
              <a:t>Arquitectura de clases: MVVM + Clean</a:t>
            </a:r>
          </a:p>
        </p:txBody>
      </p:sp>
      <p:sp>
        <p:nvSpPr>
          <p:cNvPr id="20" name="Scale"/>
          <p:cNvSpPr/>
          <p:nvPr/>
        </p:nvSpPr>
        <p:spPr>
          <a:xfrm>
            <a:off x="457200" y="1100000"/>
            <a:ext cx="3200000" cy="14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ctr"/>
          <a:lstStyle/>
          <a:p>
            <a:pPr algn="ctr">
              <a:buNone/>
            </a:pPr>
            <a:r>
              <a:rPr lang="es-ES" sz="1300" b="1" dirty="0">
                <a:solidFill>
                  <a:schemeClr val="accent6"/>
                </a:solidFill>
              </a:rPr>
              <a:t>ESCALADO DEL DISEÑO</a:t>
            </a:r>
          </a:p>
          <a:p>
            <a:pPr algn="ctr">
              <a:buNone/>
            </a:pPr>
            <a:r>
              <a:rPr lang="es-ES" sz="3200" b="1" dirty="0">
                <a:solidFill>
                  <a:schemeClr val="dk2"/>
                </a:solidFill>
              </a:rPr>
              <a:t>13 → ~45</a:t>
            </a:r>
          </a:p>
          <a:p>
            <a:pPr algn="ctr">
              <a:buNone/>
            </a:pPr>
            <a:r>
              <a:rPr lang="es-ES" sz="1300" dirty="0">
                <a:solidFill>
                  <a:schemeClr val="dk1"/>
                </a:solidFill>
              </a:rPr>
              <a:t>clases en 4 capas Clean</a:t>
            </a:r>
          </a:p>
        </p:txBody>
      </p:sp>
      <p:sp>
        <p:nvSpPr>
          <p:cNvPr id="21" name="Layers"/>
          <p:cNvSpPr/>
          <p:nvPr/>
        </p:nvSpPr>
        <p:spPr>
          <a:xfrm>
            <a:off x="457200" y="2600000"/>
            <a:ext cx="3200000" cy="190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LAS 4 CAPAS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data</a:t>
            </a:r>
            <a:r>
              <a:rPr lang="es-ES" sz="1400" dirty="0">
                <a:solidFill>
                  <a:schemeClr val="dk1"/>
                </a:solidFill>
              </a:rPr>
              <a:t> · Room, DAOs, mapper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domain</a:t>
            </a:r>
            <a:r>
              <a:rPr lang="es-ES" sz="1400" dirty="0">
                <a:solidFill>
                  <a:schemeClr val="dk1"/>
                </a:solidFill>
              </a:rPr>
              <a:t> · casos de uso, interfaces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ui</a:t>
            </a:r>
            <a:r>
              <a:rPr lang="es-ES" sz="1400" dirty="0">
                <a:solidFill>
                  <a:schemeClr val="dk1"/>
                </a:solidFill>
              </a:rPr>
              <a:t> · Fragments, ViewModels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common</a:t>
            </a:r>
            <a:r>
              <a:rPr lang="es-ES" sz="1400" dirty="0">
                <a:solidFill>
                  <a:schemeClr val="dk1"/>
                </a:solidFill>
              </a:rPr>
              <a:t> · utilidades, extensiones</a:t>
            </a:r>
          </a:p>
        </p:txBody>
      </p:sp>
      <p:sp>
        <p:nvSpPr>
          <p:cNvPr id="30" name="P1"/>
          <p:cNvSpPr/>
          <p:nvPr/>
        </p:nvSpPr>
        <p:spPr>
          <a:xfrm>
            <a:off x="3800000" y="1100000"/>
            <a:ext cx="4887200" cy="108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PRINCIPIO 1 · Responsabilidades aisladas</a:t>
            </a:r>
          </a:p>
          <a:p>
            <a:pPr>
              <a:buNone/>
            </a:pPr>
            <a:r>
              <a:rPr lang="es-ES" sz="1400" dirty="0">
                <a:solidFill>
                  <a:schemeClr val="dk1"/>
                </a:solidFill>
              </a:rPr>
              <a:t>Los repositorios </a:t>
            </a:r>
            <a:r>
              <a:rPr lang="es-ES" sz="1400" b="1" dirty="0">
                <a:solidFill>
                  <a:schemeClr val="dk2"/>
                </a:solidFill>
              </a:rPr>
              <a:t>no se comunican entre sí</a:t>
            </a:r>
            <a:r>
              <a:rPr lang="es-ES" sz="1400" dirty="0">
                <a:solidFill>
                  <a:schemeClr val="dk1"/>
                </a:solidFill>
              </a:rPr>
              <a:t>. El ViewModel orquesta las llamadas.</a:t>
            </a:r>
          </a:p>
        </p:txBody>
      </p:sp>
      <p:sp>
        <p:nvSpPr>
          <p:cNvPr id="31" name="P2"/>
          <p:cNvSpPr/>
          <p:nvPr/>
        </p:nvSpPr>
        <p:spPr>
          <a:xfrm>
            <a:off x="3800000" y="2280000"/>
            <a:ext cx="4887200" cy="108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PRINCIPIO 2 · Inversión de dependencias</a:t>
            </a:r>
          </a:p>
          <a:p>
            <a:pPr>
              <a:buNone/>
            </a:pPr>
            <a:r>
              <a:rPr lang="es-ES" sz="1400" dirty="0">
                <a:solidFill>
                  <a:schemeClr val="dk1"/>
                </a:solidFill>
              </a:rPr>
              <a:t>Comunicación contra </a:t>
            </a:r>
            <a:r>
              <a:rPr lang="es-ES" sz="1400" b="1" dirty="0">
                <a:solidFill>
                  <a:schemeClr val="dk2"/>
                </a:solidFill>
              </a:rPr>
              <a:t>interfaces de domain</a:t>
            </a:r>
            <a:r>
              <a:rPr lang="es-ES" sz="1400" dirty="0">
                <a:solidFill>
                  <a:schemeClr val="dk1"/>
                </a:solidFill>
              </a:rPr>
              <a:t>, nunca contra implementaciones concretas.</a:t>
            </a:r>
          </a:p>
        </p:txBody>
      </p:sp>
      <p:sp>
        <p:nvSpPr>
          <p:cNvPr id="32" name="P3"/>
          <p:cNvSpPr/>
          <p:nvPr/>
        </p:nvSpPr>
        <p:spPr>
          <a:xfrm>
            <a:off x="3800000" y="3460000"/>
            <a:ext cx="4887200" cy="108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PRINCIPIO 3 · Modelos de presentación</a:t>
            </a:r>
          </a:p>
          <a:p>
            <a:pPr>
              <a:buNone/>
            </a:pPr>
            <a:r>
              <a:rPr lang="es-ES" sz="1400" dirty="0">
                <a:solidFill>
                  <a:schemeClr val="dk1"/>
                </a:solidFill>
              </a:rPr>
              <a:t>TransaccionUI · HistorialItem · DatoMensual → no contaminar las entidades Room con lógica de UI.</a:t>
            </a:r>
          </a:p>
        </p:txBody>
      </p:sp>
    </p:spTree>
    <p:extLst>
      <p:ext uri="{BB962C8B-B14F-4D97-AF65-F5344CB8AC3E}">
        <p14:creationId xmlns:p14="http://schemas.microsoft.com/office/powerpoint/2010/main" val="4174897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ECC4-DB62-F773-C88C-A0A22005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DA6BD89-D65B-7C43-5490-949EF00EE8BD}"/>
              </a:ext>
            </a:extLst>
          </p:cNvPr>
          <p:cNvSpPr txBox="1"/>
          <p:nvPr/>
        </p:nvSpPr>
        <p:spPr>
          <a:xfrm>
            <a:off x="207819" y="136355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3200" b="1" dirty="0">
                <a:solidFill>
                  <a:schemeClr val="accent1">
                    <a:lumMod val="10000"/>
                  </a:schemeClr>
                </a:solidFill>
              </a:rPr>
              <a:t>7. Diseño visual</a:t>
            </a:r>
          </a:p>
        </p:txBody>
      </p:sp>
      <p:sp>
        <p:nvSpPr>
          <p:cNvPr id="20" name="Scr"/>
          <p:cNvSpPr/>
          <p:nvPr/>
        </p:nvSpPr>
        <p:spPr>
          <a:xfrm>
            <a:off x="457200" y="1050000"/>
            <a:ext cx="2700000" cy="66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91440" rIns="182880" bIns="91440" rtlCol="0" anchor="ctr"/>
          <a:lstStyle/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Login y Registro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Local, nombres únicos</a:t>
            </a:r>
          </a:p>
        </p:txBody>
      </p:sp>
      <p:sp>
        <p:nvSpPr>
          <p:cNvPr id="21" name="Scr"/>
          <p:cNvSpPr/>
          <p:nvPr/>
        </p:nvSpPr>
        <p:spPr>
          <a:xfrm>
            <a:off x="3257200" y="1050000"/>
            <a:ext cx="2700000" cy="66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91440" rIns="182880" bIns="91440" rtlCol="0" anchor="ctr"/>
          <a:lstStyle/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Escaparate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Tarjetas con pictogramas de categoría</a:t>
            </a:r>
          </a:p>
        </p:txBody>
      </p:sp>
      <p:sp>
        <p:nvSpPr>
          <p:cNvPr id="22" name="Scr"/>
          <p:cNvSpPr/>
          <p:nvPr/>
        </p:nvSpPr>
        <p:spPr>
          <a:xfrm>
            <a:off x="6057200" y="1050000"/>
            <a:ext cx="2700000" cy="66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91440" rIns="182880" bIns="91440" rtlCol="0" anchor="ctr"/>
          <a:lstStyle/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Crear / Detalle servicio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FAB, Slider de coste</a:t>
            </a:r>
          </a:p>
        </p:txBody>
      </p:sp>
      <p:sp>
        <p:nvSpPr>
          <p:cNvPr id="23" name="Scr"/>
          <p:cNvSpPr/>
          <p:nvPr/>
        </p:nvSpPr>
        <p:spPr>
          <a:xfrm>
            <a:off x="457200" y="1790000"/>
            <a:ext cx="2700000" cy="66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91440" rIns="182880" bIns="91440" rtlCol="0" anchor="ctr"/>
          <a:lstStyle/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Transacciones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Pendientes y completadas</a:t>
            </a:r>
          </a:p>
        </p:txBody>
      </p:sp>
      <p:sp>
        <p:nvSpPr>
          <p:cNvPr id="24" name="Scr"/>
          <p:cNvSpPr/>
          <p:nvPr/>
        </p:nvSpPr>
        <p:spPr>
          <a:xfrm>
            <a:off x="3257200" y="1790000"/>
            <a:ext cx="2700000" cy="66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91440" rIns="182880" bIns="91440" rtlCol="0" anchor="ctr"/>
          <a:lstStyle/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Valoración ARASAAC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BottomSheet con pictogramas</a:t>
            </a:r>
          </a:p>
        </p:txBody>
      </p:sp>
      <p:sp>
        <p:nvSpPr>
          <p:cNvPr id="25" name="Scr"/>
          <p:cNvSpPr/>
          <p:nvPr/>
        </p:nvSpPr>
        <p:spPr>
          <a:xfrm>
            <a:off x="6057200" y="1790000"/>
            <a:ext cx="2700000" cy="66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91440" rIns="182880" bIns="91440" rtlCol="0" anchor="ctr"/>
          <a:lstStyle/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Perfil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Saldo, nivel, servicios publicados</a:t>
            </a:r>
          </a:p>
        </p:txBody>
      </p:sp>
      <p:sp>
        <p:nvSpPr>
          <p:cNvPr id="26" name="Scr"/>
          <p:cNvSpPr/>
          <p:nvPr/>
        </p:nvSpPr>
        <p:spPr>
          <a:xfrm>
            <a:off x="457200" y="2530000"/>
            <a:ext cx="2700000" cy="6600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82880" tIns="91440" rIns="182880" bIns="91440" rtlCol="0" anchor="ctr"/>
          <a:lstStyle/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Historial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Gráfico MPAndroidChart</a:t>
            </a:r>
          </a:p>
        </p:txBody>
      </p:sp>
      <p:sp>
        <p:nvSpPr>
          <p:cNvPr id="90" name="Mat"/>
          <p:cNvSpPr/>
          <p:nvPr/>
        </p:nvSpPr>
        <p:spPr>
          <a:xfrm>
            <a:off x="457200" y="3800000"/>
            <a:ext cx="8229600" cy="11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74320" bIns="22860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PALETA LIMPIA · ALTO CONTRASTE · MATERIAL DESIGN COMPONENTS</a:t>
            </a:r>
          </a:p>
          <a:p>
            <a:pPr>
              <a:buNone/>
            </a:pPr>
            <a:r>
              <a:rPr lang="es-ES" sz="1400" dirty="0">
                <a:solidFill>
                  <a:schemeClr val="dk1"/>
                </a:solidFill>
              </a:rPr>
              <a:t>Elementos estándar: </a:t>
            </a:r>
            <a:r>
              <a:rPr lang="es-ES" sz="1400" b="1" dirty="0">
                <a:solidFill>
                  <a:schemeClr val="dk2"/>
                </a:solidFill>
              </a:rPr>
              <a:t>BottomNavigationView · BottomSheet · Slider · Snackbar</a:t>
            </a:r>
          </a:p>
        </p:txBody>
      </p:sp>
    </p:spTree>
    <p:extLst>
      <p:ext uri="{BB962C8B-B14F-4D97-AF65-F5344CB8AC3E}">
        <p14:creationId xmlns:p14="http://schemas.microsoft.com/office/powerpoint/2010/main" val="317540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D95A-23C9-17F2-9CDB-7668F122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457200" y="899999"/>
            <a:ext cx="8229600" cy="3827749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" name="Tag"/>
          <p:cNvSpPr txBox="1"/>
          <p:nvPr/>
        </p:nvSpPr>
        <p:spPr>
          <a:xfrm>
            <a:off x="457200" y="1200000"/>
            <a:ext cx="82296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800" b="1" dirty="0">
                <a:solidFill>
                  <a:schemeClr val="accent2"/>
                </a:solidFill>
              </a:rPr>
              <a:t>⭐ BLOQUE DEMO EN VIVO</a:t>
            </a:r>
          </a:p>
        </p:txBody>
      </p:sp>
      <p:sp>
        <p:nvSpPr>
          <p:cNvPr id="12" name="Main"/>
          <p:cNvSpPr txBox="1"/>
          <p:nvPr/>
        </p:nvSpPr>
        <p:spPr>
          <a:xfrm>
            <a:off x="457200" y="1700000"/>
            <a:ext cx="8229600" cy="12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4800" b="1" dirty="0">
                <a:solidFill>
                  <a:schemeClr val="lt1"/>
                </a:solidFill>
              </a:rPr>
              <a:t>Demostración en directo</a:t>
            </a:r>
          </a:p>
          <a:p>
            <a:pPr algn="ctr">
              <a:buNone/>
            </a:pPr>
            <a:r>
              <a:rPr lang="es-ES" sz="1800" dirty="0">
                <a:solidFill>
                  <a:schemeClr val="accent2"/>
                </a:solidFill>
              </a:rPr>
              <a:t>Dispositivo físico · Android 16 · Offline-first</a:t>
            </a:r>
          </a:p>
        </p:txBody>
      </p:sp>
      <p:sp>
        <p:nvSpPr>
          <p:cNvPr id="13" name="Recos"/>
          <p:cNvSpPr txBox="1"/>
          <p:nvPr/>
        </p:nvSpPr>
        <p:spPr>
          <a:xfrm>
            <a:off x="1100000" y="3050000"/>
            <a:ext cx="6944000" cy="12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buFont typeface="Arial"/>
              <a:buChar char="✓"/>
            </a:pPr>
            <a:r>
              <a:rPr lang="es-ES" sz="1500" dirty="0">
                <a:solidFill>
                  <a:schemeClr val="lt1"/>
                </a:solidFill>
              </a:rPr>
              <a:t>2 usuarios de prueba registrados (Marius y  Amanda)</a:t>
            </a:r>
          </a:p>
          <a:p>
            <a:pPr marL="228600" indent="-228600">
              <a:buFont typeface="Arial"/>
              <a:buChar char="✓"/>
            </a:pPr>
            <a:r>
              <a:rPr lang="es-ES" sz="1500" dirty="0">
                <a:solidFill>
                  <a:schemeClr val="lt1"/>
                </a:solidFill>
              </a:rPr>
              <a:t>Servicios registrados con anterioridad</a:t>
            </a:r>
          </a:p>
          <a:p>
            <a:pPr marL="228600" indent="-228600">
              <a:buFont typeface="Arial"/>
              <a:buChar char="✓"/>
            </a:pPr>
            <a:r>
              <a:rPr lang="es-ES" sz="1500" dirty="0">
                <a:solidFill>
                  <a:schemeClr val="lt1"/>
                </a:solidFill>
              </a:rPr>
              <a:t>Añadir nuevo usuario (Irene)</a:t>
            </a:r>
          </a:p>
          <a:p>
            <a:pPr marL="228600" indent="-228600">
              <a:buFont typeface="Arial"/>
              <a:buChar char="✓"/>
            </a:pPr>
            <a:r>
              <a:rPr lang="es-ES" sz="1500" dirty="0">
                <a:solidFill>
                  <a:schemeClr val="lt1"/>
                </a:solidFill>
              </a:rPr>
              <a:t>Publicar y valorar nuevo servicio</a:t>
            </a:r>
          </a:p>
          <a:p>
            <a:pPr marL="228600" indent="-228600">
              <a:buFont typeface="Arial"/>
              <a:buChar char="✓"/>
            </a:pPr>
            <a:r>
              <a:rPr lang="es-ES" sz="1500" dirty="0">
                <a:solidFill>
                  <a:schemeClr val="lt1"/>
                </a:solidFill>
              </a:rPr>
              <a:t>Probar TTS</a:t>
            </a:r>
          </a:p>
          <a:p>
            <a:pPr marL="228600" indent="-228600">
              <a:buFont typeface="Arial"/>
              <a:buChar char="✓"/>
            </a:pPr>
            <a:r>
              <a:rPr lang="es-ES" sz="1500" dirty="0">
                <a:solidFill>
                  <a:schemeClr val="lt1"/>
                </a:solidFill>
              </a:rPr>
              <a:t>Pantalla emitiendo al PC vía USB en tiempo real</a:t>
            </a:r>
          </a:p>
        </p:txBody>
      </p:sp>
    </p:spTree>
    <p:extLst>
      <p:ext uri="{BB962C8B-B14F-4D97-AF65-F5344CB8AC3E}">
        <p14:creationId xmlns:p14="http://schemas.microsoft.com/office/powerpoint/2010/main" val="2765629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9F27-020A-BD8F-9A21-3BBC022B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3417FB-2403-958D-AA67-52F5B14448F9}"/>
              </a:ext>
            </a:extLst>
          </p:cNvPr>
          <p:cNvSpPr txBox="1"/>
          <p:nvPr/>
        </p:nvSpPr>
        <p:spPr>
          <a:xfrm>
            <a:off x="325582" y="143282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3200" b="1" dirty="0">
                <a:solidFill>
                  <a:srgbClr val="0E1A2B"/>
                </a:solidFill>
              </a:rPr>
              <a:t>Recorrido de la demo (6 bloques)</a:t>
            </a:r>
          </a:p>
        </p:txBody>
      </p:sp>
      <p:sp>
        <p:nvSpPr>
          <p:cNvPr id="20" name="B1"/>
          <p:cNvSpPr/>
          <p:nvPr/>
        </p:nvSpPr>
        <p:spPr>
          <a:xfrm>
            <a:off x="572000" y="1050000"/>
            <a:ext cx="2600000" cy="14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2400" b="1" dirty="0">
                <a:solidFill>
                  <a:schemeClr val="accent6"/>
                </a:solidFill>
              </a:rPr>
              <a:t>1</a:t>
            </a:r>
            <a:r>
              <a:rPr lang="es-ES" sz="1500" b="1" dirty="0">
                <a:solidFill>
                  <a:schemeClr val="dk2"/>
                </a:solidFill>
              </a:rPr>
              <a:t>  Registro y login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Nombre único, barrio, avatar. Saldo inicial 2 h. Sesión persistente.</a:t>
            </a:r>
          </a:p>
        </p:txBody>
      </p:sp>
      <p:sp>
        <p:nvSpPr>
          <p:cNvPr id="21" name="B2"/>
          <p:cNvSpPr/>
          <p:nvPr/>
        </p:nvSpPr>
        <p:spPr>
          <a:xfrm>
            <a:off x="3272000" y="1050000"/>
            <a:ext cx="2600000" cy="1400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2400" b="1" dirty="0">
                <a:solidFill>
                  <a:schemeClr val="accent6"/>
                </a:solidFill>
              </a:rPr>
              <a:t>2</a:t>
            </a:r>
            <a:r>
              <a:rPr lang="es-ES" sz="1500" b="1" dirty="0">
                <a:solidFill>
                  <a:schemeClr val="dk2"/>
                </a:solidFill>
              </a:rPr>
              <a:t>  Escaparate + TTS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Pictogramas ARASAAC por categoría. Lectura en voz alta con un solo botón.</a:t>
            </a:r>
          </a:p>
        </p:txBody>
      </p:sp>
      <p:sp>
        <p:nvSpPr>
          <p:cNvPr id="22" name="B3"/>
          <p:cNvSpPr/>
          <p:nvPr/>
        </p:nvSpPr>
        <p:spPr>
          <a:xfrm>
            <a:off x="5972000" y="1050000"/>
            <a:ext cx="2600000" cy="14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2400" b="1" dirty="0">
                <a:solidFill>
                  <a:schemeClr val="accent6"/>
                </a:solidFill>
              </a:rPr>
              <a:t>3</a:t>
            </a:r>
            <a:r>
              <a:rPr lang="es-ES" sz="1500" b="1" dirty="0">
                <a:solidFill>
                  <a:schemeClr val="dk2"/>
                </a:solidFill>
              </a:rPr>
              <a:t>  Publicar servicio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FAB → título, categoría, coste (Slider). LiveData reactivo. Integridad referencial.</a:t>
            </a:r>
          </a:p>
        </p:txBody>
      </p:sp>
      <p:sp>
        <p:nvSpPr>
          <p:cNvPr id="23" name="B4"/>
          <p:cNvSpPr/>
          <p:nvPr/>
        </p:nvSpPr>
        <p:spPr>
          <a:xfrm>
            <a:off x="572000" y="2549999"/>
            <a:ext cx="2600000" cy="1653699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2400" b="1" dirty="0">
                <a:solidFill>
                  <a:schemeClr val="accent6"/>
                </a:solidFill>
              </a:rPr>
              <a:t>4</a:t>
            </a:r>
            <a:r>
              <a:rPr lang="es-ES" sz="1500" b="1" dirty="0">
                <a:solidFill>
                  <a:schemeClr val="dk2"/>
                </a:solidFill>
              </a:rPr>
              <a:t>  Transacción atómica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Solicitar → validación de saldo → completar. Horas transferidas sin estados inconsistentes.</a:t>
            </a:r>
          </a:p>
        </p:txBody>
      </p:sp>
      <p:sp>
        <p:nvSpPr>
          <p:cNvPr id="24" name="B5"/>
          <p:cNvSpPr/>
          <p:nvPr/>
        </p:nvSpPr>
        <p:spPr>
          <a:xfrm>
            <a:off x="3272000" y="2550000"/>
            <a:ext cx="2561533" cy="16537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2400" b="1" dirty="0">
                <a:solidFill>
                  <a:schemeClr val="accent6"/>
                </a:solidFill>
              </a:rPr>
              <a:t>5</a:t>
            </a:r>
            <a:r>
              <a:rPr lang="es-ES" sz="1500" b="1" dirty="0">
                <a:solidFill>
                  <a:schemeClr val="dk2"/>
                </a:solidFill>
              </a:rPr>
              <a:t>  Valoración ARASAAC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BottomSheet con 9 pictogramas. Regla unidireccional: solo el comprador valora.</a:t>
            </a:r>
          </a:p>
        </p:txBody>
      </p:sp>
      <p:sp>
        <p:nvSpPr>
          <p:cNvPr id="25" name="B6"/>
          <p:cNvSpPr/>
          <p:nvPr/>
        </p:nvSpPr>
        <p:spPr>
          <a:xfrm>
            <a:off x="5972000" y="2550000"/>
            <a:ext cx="2600000" cy="1653698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182880" tIns="182880" rIns="182880" bIns="182880" rtlCol="0" anchor="t"/>
          <a:lstStyle/>
          <a:p>
            <a:pPr>
              <a:buNone/>
            </a:pPr>
            <a:r>
              <a:rPr lang="es-ES" sz="2400" b="1" dirty="0">
                <a:solidFill>
                  <a:schemeClr val="accent6"/>
                </a:solidFill>
              </a:rPr>
              <a:t>6</a:t>
            </a:r>
            <a:r>
              <a:rPr lang="es-ES" sz="1500" b="1" dirty="0">
                <a:solidFill>
                  <a:schemeClr val="dk2"/>
                </a:solidFill>
              </a:rPr>
              <a:t>  Perfil e Historial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Saldo, nivel, gráfico MPAndroidChart (ganadas vs. gastadas). Badge reactivo StateFlow.</a:t>
            </a:r>
          </a:p>
        </p:txBody>
      </p:sp>
      <p:sp>
        <p:nvSpPr>
          <p:cNvPr id="90" name="Foot"/>
          <p:cNvSpPr txBox="1"/>
          <p:nvPr/>
        </p:nvSpPr>
        <p:spPr>
          <a:xfrm>
            <a:off x="457200" y="4300000"/>
            <a:ext cx="82296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400" i="1" dirty="0">
                <a:solidFill>
                  <a:schemeClr val="accent6"/>
                </a:solidFill>
              </a:rPr>
              <a:t>Todo en tiempo real sobre dispositivo físico · sin conexión a internet</a:t>
            </a:r>
          </a:p>
        </p:txBody>
      </p:sp>
    </p:spTree>
    <p:extLst>
      <p:ext uri="{BB962C8B-B14F-4D97-AF65-F5344CB8AC3E}">
        <p14:creationId xmlns:p14="http://schemas.microsoft.com/office/powerpoint/2010/main" val="3763041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D7F9-8DFA-2186-2913-5E041634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87676D8-AAC3-3A70-94C0-D0E7C618D030}"/>
              </a:ext>
            </a:extLst>
          </p:cNvPr>
          <p:cNvSpPr txBox="1"/>
          <p:nvPr/>
        </p:nvSpPr>
        <p:spPr>
          <a:xfrm>
            <a:off x="325582" y="143282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sz="3200" b="1" dirty="0">
                <a:solidFill>
                  <a:schemeClr val="accent1">
                    <a:lumMod val="10000"/>
                  </a:schemeClr>
                </a:solidFill>
              </a:rPr>
              <a:t>8. Testing y bugs destacados</a:t>
            </a:r>
          </a:p>
        </p:txBody>
      </p:sp>
      <p:sp>
        <p:nvSpPr>
          <p:cNvPr id="20" name="Approach"/>
          <p:cNvSpPr/>
          <p:nvPr/>
        </p:nvSpPr>
        <p:spPr>
          <a:xfrm>
            <a:off x="457200" y="1100000"/>
            <a:ext cx="4000500" cy="34000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28600" bIns="228600" rtlCol="0" anchor="t"/>
          <a:lstStyle/>
          <a:p>
            <a:pPr>
              <a:buNone/>
            </a:pPr>
            <a:r>
              <a:rPr lang="es-ES" sz="1400" b="1" dirty="0">
                <a:solidFill>
                  <a:schemeClr val="accent6"/>
                </a:solidFill>
              </a:rPr>
              <a:t>ENFOQUE DE TESTING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>
                <a:solidFill>
                  <a:schemeClr val="dk1"/>
                </a:solidFill>
              </a:rPr>
              <a:t>Testing continuo durante el desarrollo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>
                <a:solidFill>
                  <a:schemeClr val="dk1"/>
                </a:solidFill>
              </a:rPr>
              <a:t>Enfoque manual sobre </a:t>
            </a:r>
            <a:r>
              <a:rPr lang="es-ES" sz="1500" b="1" dirty="0">
                <a:solidFill>
                  <a:schemeClr val="dk2"/>
                </a:solidFill>
              </a:rPr>
              <a:t>los 12 casos de uso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>
                <a:solidFill>
                  <a:schemeClr val="dk1"/>
                </a:solidFill>
              </a:rPr>
              <a:t>Prueba de humo documentada</a:t>
            </a:r>
          </a:p>
          <a:p>
            <a:pPr marL="457200" indent="0">
              <a:buNone/>
            </a:pPr>
            <a:r>
              <a:rPr lang="es-ES" sz="1300" i="1" dirty="0">
                <a:solidFill>
                  <a:schemeClr val="dk1"/>
                </a:solidFill>
              </a:rPr>
              <a:t>registro → publicación → solicitud → transacción → valoración</a:t>
            </a:r>
          </a:p>
          <a:p>
            <a:pPr marL="228600" indent="-228600">
              <a:buFont typeface="Arial"/>
              <a:buChar char="•"/>
            </a:pPr>
            <a:r>
              <a:rPr lang="es-ES" sz="1500" dirty="0">
                <a:solidFill>
                  <a:schemeClr val="dk1"/>
                </a:solidFill>
              </a:rPr>
              <a:t>Bugs clasificados por severidad</a:t>
            </a:r>
          </a:p>
        </p:txBody>
      </p:sp>
      <p:sp>
        <p:nvSpPr>
          <p:cNvPr id="21" name="Bug"/>
          <p:cNvSpPr/>
          <p:nvPr/>
        </p:nvSpPr>
        <p:spPr>
          <a:xfrm>
            <a:off x="4686300" y="1100000"/>
            <a:ext cx="4000500" cy="34000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74320" tIns="228600" rIns="228600" bIns="228600" rtlCol="0" anchor="t"/>
          <a:lstStyle/>
          <a:p>
            <a:pPr>
              <a:buNone/>
            </a:pPr>
            <a:r>
              <a:rPr lang="es-ES" sz="1400" b="1" dirty="0">
                <a:solidFill>
                  <a:schemeClr val="accent6"/>
                </a:solidFill>
              </a:rPr>
              <a:t>BUG DIDÁCTICO DESTACADO</a:t>
            </a:r>
          </a:p>
          <a:p>
            <a:pPr>
              <a:buNone/>
            </a:pPr>
            <a:r>
              <a:rPr lang="es-ES" sz="1600" b="1" dirty="0">
                <a:solidFill>
                  <a:schemeClr val="dk2"/>
                </a:solidFill>
              </a:rPr>
              <a:t>Sistema de valoración</a:t>
            </a:r>
          </a:p>
          <a:p>
            <a:pPr>
              <a:buNone/>
            </a:pPr>
            <a:r>
              <a:rPr lang="es-ES" sz="1300" b="1" dirty="0">
                <a:solidFill>
                  <a:schemeClr val="dk1"/>
                </a:solidFill>
              </a:rPr>
              <a:t>Antes: </a:t>
            </a:r>
            <a:r>
              <a:rPr lang="es-ES" sz="1300" dirty="0">
                <a:solidFill>
                  <a:schemeClr val="dk1"/>
                </a:solidFill>
              </a:rPr>
              <a:t>bidireccional automático → generaba inconsistencias con la lógica real de un banco de tiempo.</a:t>
            </a:r>
          </a:p>
          <a:p>
            <a:pPr>
              <a:buNone/>
            </a:pPr>
            <a:r>
              <a:rPr lang="es-ES" sz="1300" b="1" dirty="0">
                <a:solidFill>
                  <a:schemeClr val="dk2"/>
                </a:solidFill>
              </a:rPr>
              <a:t>Después: </a:t>
            </a:r>
            <a:r>
              <a:rPr lang="es-ES" sz="1300" dirty="0">
                <a:solidFill>
                  <a:schemeClr val="dk1"/>
                </a:solidFill>
              </a:rPr>
              <a:t>unidireccional voluntario, inspirado en BlaBlaCar. Solo el comprador valora, y solo si quiere.</a:t>
            </a:r>
          </a:p>
          <a:p>
            <a:pPr>
              <a:buNone/>
            </a:pPr>
            <a:r>
              <a:rPr lang="es-ES" sz="1200" i="1" dirty="0">
                <a:solidFill>
                  <a:schemeClr val="accent6"/>
                </a:solidFill>
              </a:rPr>
              <a:t>Las pruebas no sólo cazan bugs técnicos; también validan decisiones de diseño.</a:t>
            </a:r>
          </a:p>
        </p:txBody>
      </p:sp>
    </p:spTree>
    <p:extLst>
      <p:ext uri="{BB962C8B-B14F-4D97-AF65-F5344CB8AC3E}">
        <p14:creationId xmlns:p14="http://schemas.microsoft.com/office/powerpoint/2010/main" val="2815013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400000"/>
            <a:ext cx="8229600" cy="70000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rtlCol="0" anchor="t"/>
          <a:lstStyle/>
          <a:p>
            <a:pPr>
              <a:buNone/>
            </a:pPr>
            <a:r>
              <a:rPr lang="es-ES" sz="3000" b="1" dirty="0">
                <a:solidFill>
                  <a:schemeClr val="dk2"/>
                </a:solidFill>
              </a:rPr>
              <a:t>9. Resultados y objetivos</a:t>
            </a:r>
          </a:p>
        </p:txBody>
      </p:sp>
      <p:sp>
        <p:nvSpPr>
          <p:cNvPr id="20" name="Counter"/>
          <p:cNvSpPr/>
          <p:nvPr/>
        </p:nvSpPr>
        <p:spPr>
          <a:xfrm>
            <a:off x="457200" y="1150000"/>
            <a:ext cx="2600000" cy="11000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s-ES" sz="4400" b="1" dirty="0">
                <a:solidFill>
                  <a:schemeClr val="lt1"/>
                </a:solidFill>
              </a:rPr>
              <a:t>8 / 8</a:t>
            </a:r>
          </a:p>
          <a:p>
            <a:pPr algn="ctr">
              <a:buNone/>
            </a:pPr>
            <a:r>
              <a:rPr lang="es-ES" sz="1400" b="1" dirty="0">
                <a:solidFill>
                  <a:schemeClr val="lt1"/>
                </a:solidFill>
              </a:rPr>
              <a:t>OE cumplidos</a:t>
            </a:r>
          </a:p>
        </p:txBody>
      </p:sp>
      <p:sp>
        <p:nvSpPr>
          <p:cNvPr id="21" name="Note"/>
          <p:cNvSpPr/>
          <p:nvPr/>
        </p:nvSpPr>
        <p:spPr>
          <a:xfrm>
            <a:off x="3200000" y="1150000"/>
            <a:ext cx="5487200" cy="110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182880" rIns="228600" bIns="182880" rtlCol="0" anchor="ctr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3 OBJETIVOS SUPERADOS EN ALCANCE</a:t>
            </a:r>
          </a:p>
          <a:p>
            <a:pPr>
              <a:buNone/>
            </a:pPr>
            <a:r>
              <a:rPr lang="es-ES" sz="1400" dirty="0">
                <a:solidFill>
                  <a:schemeClr val="dk1"/>
                </a:solidFill>
              </a:rPr>
              <a:t>TTS en 4 pantallas · Valoraciones unidireccionales voluntarias · Notificaciones StateFlow reactivo</a:t>
            </a:r>
          </a:p>
        </p:txBody>
      </p:sp>
      <p:sp>
        <p:nvSpPr>
          <p:cNvPr id="30" name="NoA"/>
          <p:cNvSpPr/>
          <p:nvPr/>
        </p:nvSpPr>
        <p:spPr>
          <a:xfrm>
            <a:off x="457200" y="2380000"/>
            <a:ext cx="4050000" cy="220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OBJETIVOS NO ALCANZADOS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WorkManager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Notificaciones programadas descartadas en Sprint 6 por tiempo. Pasa a vías futuras.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Firebase Firestore</a:t>
            </a:r>
          </a:p>
          <a:p>
            <a:pPr>
              <a:buNone/>
            </a:pPr>
            <a:r>
              <a:rPr lang="es-ES" sz="1300" dirty="0">
                <a:solidFill>
                  <a:schemeClr val="dk1"/>
                </a:solidFill>
              </a:rPr>
              <a:t>Incompatible con la filosofía offline-first del MVP.</a:t>
            </a:r>
          </a:p>
        </p:txBody>
      </p:sp>
      <p:sp>
        <p:nvSpPr>
          <p:cNvPr id="31" name="Balance"/>
          <p:cNvSpPr/>
          <p:nvPr/>
        </p:nvSpPr>
        <p:spPr>
          <a:xfrm>
            <a:off x="4637200" y="2380000"/>
            <a:ext cx="4050000" cy="22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228600" tIns="228600" rIns="228600" bIns="228600" rtlCol="0" anchor="t"/>
          <a:lstStyle/>
          <a:p>
            <a:pPr>
              <a:buNone/>
            </a:pPr>
            <a:r>
              <a:rPr lang="es-ES" sz="1300" b="1" dirty="0">
                <a:solidFill>
                  <a:schemeClr val="accent6"/>
                </a:solidFill>
              </a:rPr>
              <a:t>BALANCE GLOBAL</a:t>
            </a:r>
          </a:p>
          <a:p>
            <a:pPr>
              <a:buNone/>
            </a:pPr>
            <a:r>
              <a:rPr lang="es-ES" sz="1700" b="1" dirty="0">
                <a:solidFill>
                  <a:schemeClr val="dk2"/>
                </a:solidFill>
              </a:rPr>
              <a:t>Muy positivo</a:t>
            </a:r>
          </a:p>
          <a:p>
            <a:pPr>
              <a:buNone/>
            </a:pPr>
            <a:r>
              <a:rPr lang="es-ES" sz="1400" dirty="0">
                <a:solidFill>
                  <a:schemeClr val="dk1"/>
                </a:solidFill>
              </a:rPr>
              <a:t>El MVP cumple los objetivos y la arquitectura permite incorporar las vías futuras </a:t>
            </a:r>
            <a:r>
              <a:rPr lang="es-ES" sz="1400" b="1" dirty="0">
                <a:solidFill>
                  <a:schemeClr val="dk2"/>
                </a:solidFill>
              </a:rPr>
              <a:t>sin refactorización profunda</a:t>
            </a:r>
            <a:r>
              <a:rPr lang="es-ES" sz="1400" dirty="0">
                <a:solidFill>
                  <a:schemeClr val="dk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3591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457200" y="400000"/>
            <a:ext cx="8229600" cy="50000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rtlCol="0" anchor="t"/>
          <a:lstStyle/>
          <a:p>
            <a:pPr>
              <a:buNone/>
            </a:pPr>
            <a:r>
              <a:rPr lang="es-ES" sz="3000" b="1" dirty="0">
                <a:solidFill>
                  <a:schemeClr val="dk2"/>
                </a:solidFill>
              </a:rPr>
              <a:t>10. Vías futuras</a:t>
            </a:r>
          </a:p>
        </p:txBody>
      </p:sp>
      <p:sp>
        <p:nvSpPr>
          <p:cNvPr id="20" name="VF"/>
          <p:cNvSpPr/>
          <p:nvPr/>
        </p:nvSpPr>
        <p:spPr>
          <a:xfrm>
            <a:off x="162000" y="1150000"/>
            <a:ext cx="1700000" cy="25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000" b="1" dirty="0">
                <a:solidFill>
                  <a:schemeClr val="accent6"/>
                </a:solidFill>
              </a:rPr>
              <a:t>CORTO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WorkManager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Notificaciones locales programadas. La entidad Servicio ya contempla fecha de caducidad.</a:t>
            </a:r>
          </a:p>
        </p:txBody>
      </p:sp>
      <p:sp>
        <p:nvSpPr>
          <p:cNvPr id="21" name="VF"/>
          <p:cNvSpPr/>
          <p:nvPr/>
        </p:nvSpPr>
        <p:spPr>
          <a:xfrm>
            <a:off x="1942000" y="1150000"/>
            <a:ext cx="1700000" cy="250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000" b="1" dirty="0">
                <a:solidFill>
                  <a:schemeClr val="accent6"/>
                </a:solidFill>
              </a:rPr>
              <a:t>TÉCNICO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Mejoras técnicas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Tema oscuro, migraciones Room manuales, hasheo de contraseñas, auth biométrica.</a:t>
            </a:r>
          </a:p>
        </p:txBody>
      </p:sp>
      <p:sp>
        <p:nvSpPr>
          <p:cNvPr id="22" name="VF"/>
          <p:cNvSpPr/>
          <p:nvPr/>
        </p:nvSpPr>
        <p:spPr>
          <a:xfrm>
            <a:off x="3722000" y="1150000"/>
            <a:ext cx="1700000" cy="25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000" b="1" dirty="0">
                <a:solidFill>
                  <a:schemeClr val="accent6"/>
                </a:solidFill>
              </a:rPr>
              <a:t>ACCESIBILIDAD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A11y avanzada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Integración completa con TalkBack, personalización del TTS, más pictogramas ARASAAC.</a:t>
            </a:r>
          </a:p>
        </p:txBody>
      </p:sp>
      <p:sp>
        <p:nvSpPr>
          <p:cNvPr id="23" name="VF"/>
          <p:cNvSpPr/>
          <p:nvPr/>
        </p:nvSpPr>
        <p:spPr>
          <a:xfrm>
            <a:off x="5502000" y="1150000"/>
            <a:ext cx="1700000" cy="25000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000" b="1" dirty="0">
                <a:solidFill>
                  <a:schemeClr val="accent6"/>
                </a:solidFill>
              </a:rPr>
              <a:t>FUNCIONAL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Más funcionalidad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Filtros en el escaparate (categoría, barrio, valoración) y mensajería directa.</a:t>
            </a:r>
          </a:p>
        </p:txBody>
      </p:sp>
      <p:sp>
        <p:nvSpPr>
          <p:cNvPr id="24" name="VF"/>
          <p:cNvSpPr/>
          <p:nvPr/>
        </p:nvSpPr>
        <p:spPr>
          <a:xfrm>
            <a:off x="7282000" y="1150000"/>
            <a:ext cx="1700000" cy="25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94A55">
                <a:alpha val="90000"/>
              </a:srgbClr>
            </a:outerShdw>
          </a:effectLst>
        </p:spPr>
        <p:txBody>
          <a:bodyPr wrap="square" lIns="152400" tIns="152400" rIns="152400" bIns="152400" rtlCol="0" anchor="t"/>
          <a:lstStyle/>
          <a:p>
            <a:pPr>
              <a:buNone/>
            </a:pPr>
            <a:r>
              <a:rPr lang="es-ES" sz="1000" b="1" dirty="0">
                <a:solidFill>
                  <a:schemeClr val="accent6"/>
                </a:solidFill>
              </a:rPr>
              <a:t>LARGO PLAZO</a:t>
            </a:r>
          </a:p>
          <a:p>
            <a:pPr>
              <a:buNone/>
            </a:pPr>
            <a:r>
              <a:rPr lang="es-ES" sz="1500" b="1" dirty="0">
                <a:solidFill>
                  <a:schemeClr val="dk2"/>
                </a:solidFill>
              </a:rPr>
              <a:t>Backend Firestore</a:t>
            </a:r>
          </a:p>
          <a:p>
            <a:pPr>
              <a:buNone/>
            </a:pPr>
            <a:r>
              <a:rPr lang="es-ES" sz="1200" dirty="0">
                <a:solidFill>
                  <a:schemeClr val="dk1"/>
                </a:solidFill>
              </a:rPr>
              <a:t>Sincronización real entre dispositivos sin perder la filosofía de privacidad.</a:t>
            </a:r>
          </a:p>
        </p:txBody>
      </p:sp>
    </p:spTree>
    <p:extLst>
      <p:ext uri="{BB962C8B-B14F-4D97-AF65-F5344CB8AC3E}">
        <p14:creationId xmlns:p14="http://schemas.microsoft.com/office/powerpoint/2010/main" val="3637876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457199" y="543500"/>
            <a:ext cx="8229600" cy="4140000"/>
          </a:xfrm>
          <a:prstGeom prst="roundRect">
            <a:avLst>
              <a:gd name="adj" fmla="val 3000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10800000" algn="r" rotWithShape="0">
              <a:srgbClr val="094A55">
                <a:alpha val="9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ag"/>
          <p:cNvSpPr txBox="1"/>
          <p:nvPr/>
        </p:nvSpPr>
        <p:spPr>
          <a:xfrm>
            <a:off x="457199" y="1896436"/>
            <a:ext cx="82296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2000" dirty="0">
                <a:solidFill>
                  <a:schemeClr val="accent2"/>
                </a:solidFill>
              </a:rPr>
              <a:t>MVP funcional, accesible y escalable</a:t>
            </a:r>
          </a:p>
        </p:txBody>
      </p:sp>
      <p:sp>
        <p:nvSpPr>
          <p:cNvPr id="13" name="Line"/>
          <p:cNvSpPr/>
          <p:nvPr/>
        </p:nvSpPr>
        <p:spPr>
          <a:xfrm>
            <a:off x="3799999" y="2859851"/>
            <a:ext cx="1544000" cy="3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Thanks"/>
          <p:cNvSpPr txBox="1"/>
          <p:nvPr/>
        </p:nvSpPr>
        <p:spPr>
          <a:xfrm>
            <a:off x="457199" y="3356500"/>
            <a:ext cx="82296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3600" b="1" dirty="0">
                <a:solidFill>
                  <a:schemeClr val="lt1"/>
                </a:solidFill>
              </a:rPr>
              <a:t>¡Gracias!</a:t>
            </a:r>
          </a:p>
        </p:txBody>
      </p:sp>
      <p:sp>
        <p:nvSpPr>
          <p:cNvPr id="16" name="Sig"/>
          <p:cNvSpPr txBox="1"/>
          <p:nvPr/>
        </p:nvSpPr>
        <p:spPr>
          <a:xfrm>
            <a:off x="457200" y="4200000"/>
            <a:ext cx="82296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>
              <a:buNone/>
            </a:pPr>
            <a:r>
              <a:rPr lang="es-ES" sz="1200" dirty="0">
                <a:solidFill>
                  <a:schemeClr val="lt2"/>
                </a:solidFill>
              </a:rPr>
              <a:t>Marius Ion Dodu · Tutor: Emilio Saurina · CFGS DAM · ILERNA · 2S2526</a:t>
            </a:r>
          </a:p>
        </p:txBody>
      </p:sp>
      <p:pic>
        <p:nvPicPr>
          <p:cNvPr id="2" name="Gráfico 3">
            <a:extLst>
              <a:ext uri="{FF2B5EF4-FFF2-40B4-BE49-F238E27FC236}">
                <a16:creationId xmlns:a16="http://schemas.microsoft.com/office/drawing/2014/main" id="{A36D1674-3AEB-3B2D-0A5A-FB0E2AC3C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5852" y="543500"/>
            <a:ext cx="5672295" cy="136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38377"/>
      </p:ext>
    </p:extLst>
  </p:cSld>
  <p:clrMapOvr>
    <a:masterClrMapping/>
  </p:clrMapOvr>
</p:sld>
</file>

<file path=ppt/theme/theme1.xml><?xml version="1.0" encoding="utf-8"?>
<a:theme xmlns:a="http://schemas.openxmlformats.org/drawingml/2006/main" name="Aquatic and Physical Therapy Center by Slidesgo">
  <a:themeElements>
    <a:clrScheme name="Simple Light">
      <a:dk1>
        <a:srgbClr val="202020"/>
      </a:dk1>
      <a:lt1>
        <a:srgbClr val="FFFFFF"/>
      </a:lt1>
      <a:dk2>
        <a:srgbClr val="48B9CE"/>
      </a:dk2>
      <a:lt2>
        <a:srgbClr val="149BAB"/>
      </a:lt2>
      <a:accent1>
        <a:srgbClr val="CAE1E4"/>
      </a:accent1>
      <a:accent2>
        <a:srgbClr val="8FD5E2"/>
      </a:accent2>
      <a:accent3>
        <a:srgbClr val="F1F1F1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41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38A28-7BC9-4E72-BC9C-05ABF3ED3DA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6fc7f25-1f69-4725-9dd3-ae9b30166d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</TotalTime>
  <Words>1656</Words>
  <Application>Microsoft Office PowerPoint</Application>
  <PresentationFormat>Presentación en pantalla (16:9)</PresentationFormat>
  <Paragraphs>304</Paragraphs>
  <Slides>22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Avenir</vt:lpstr>
      <vt:lpstr>Open Sans SemiBold</vt:lpstr>
      <vt:lpstr>Arial</vt:lpstr>
      <vt:lpstr>Josefin Sans</vt:lpstr>
      <vt:lpstr>Open Sans</vt:lpstr>
      <vt:lpstr>Aquatic and Physical Therapy Center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Eva Gavidia Cantavella</dc:creator>
  <cp:lastModifiedBy>Marius Ion Dodu</cp:lastModifiedBy>
  <cp:revision>28</cp:revision>
  <dcterms:modified xsi:type="dcterms:W3CDTF">2026-04-21T09:29:04Z</dcterms:modified>
</cp:coreProperties>
</file>